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challenge: we want instructors to use their normal habits, interrupt the workflow, make controlled mistakes and tell us what gets in the way. This is a proposed supervised TEST pilot. It is not a declaration that field reliability or the assessment instrument has already been validated. Allow about ten minutes for the brief, then protect forty minutes for instructor challenges.</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owner supplied a successful web.8 NUC backend rollout. An actual assessment-start failure was then reported: INSERT RETURNING could not satisfy the class read helper within the insertion snapshot. The same failure was reproduced for ordinary and TEST classes. Web.9 inserts and separately verifies the readable revision without changing RLS. It also corrects TEST to the ordinary supported-command and physical-installation workflow. Local regression evidence does not prove the reported NUC class has been retried. Publish the frontend, confirm web.9 on each device, and complete the owner dry run before inviting the cohort. No NUC migration or Auth restart is required for this patch.</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suggested cohort and duration, not an approved tasking or a statistically powered validation study. Include both experienced and newer instructors and a practical device mix. Name an Enterprise/NUC recovery owner and an SME. PMs collect findings through the supplied form and issue log; there is no newly created online feedback endpoint. Temporary credentials must be delivered privately. Do not share accounts.</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prior release added duplicate TEST-* bases, which exceeded the requested catalog change. Web.9 stops offering those for new classes or access grants, but preserves their saved records and memberships. New TEST classes use existing physical installation IDs. TEST is not a separate server or permission role, and selecting it grants no access. A TEST MAJCOM-manager membership does not automatically grant oversight over other host commands or permission to grade. Use the normal assigned evaluator/PM memberships and ordinary reporting scope. Current dashboards group cloud reports by the base parent command, as for other supported-command labels. Existing duplicate-base accounts are not silently moved to a physical base; an administrator must review any new grant.</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 evidence rather than checking these boxes by assumption. The successful backend health/catalog/401 smoke did not create an account or complete a training case. Retain a second established administrator. If email accounts participate, verify their actual recovery delivery separately. Two archive paths exist: the pre-existing automatic closed-class retention worker and the new selected-class reporting archive worker. Verify both separately. Rehearse restoration into an isolated target; never restore over production to test it.</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instructor card contains eight missions. Assign four per tester during the forty-minute challenge window, including five minutes of free exploration. Cover all eight across the cohort and week. Do not force full finalization or closure into the launch: the case must satisfy existing standards and required timing. Maintain one active assessment claim per evaluator; reuse the same claimed case for observation, outage and reload missions. Use separate scheduled fixtures for competing claims and finalization. Do not erase unsynced browser storage, alter clinical standards or stress the infrastructure.</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timer that survives a foreground update is different from one recovered after an actual browser reload or process termination. The latter cannot be resumed or stopped as a trusted uninterrupted clock; the application requires VOID/restart. A void reason and new instance must preserve audit history. Do not claim the device always keeps timing through a crash. Cached offline authority must still be valid. Competing claim denial and locked final results can be successful tests, not defects. Unexpected data loss, falsely trusted elapsed time or false finalization are stop conditions. Timer sources: app.js timerNeedsRecovery/timerAction/timerMarkup/renderActiveTimers/updateLiveClocks.</a:t>
            </a:r>
          </a:p>
          <a:p/>
          <a:p>
            <a:r>
              <a:t>Source basis: app.js:1846–1942; PERMISSIONS.md; DEVELOPMENT.md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fillable feedback PDF for each finding and the CSV issue log for site consolidation. Capture the local time and zone to help correlate events. Record independent/helped/blocked/not-run rather than only a satisfaction score. A screenshot of synthetic data is useful; passwords, tokens, recovery links and real learner data are not. The sample issue is invented to illustrate the level of detail, not a known defect. There is no new in-app feedback service: the site PM routes reports to the named pilot owner.</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only the affected lane while the owner assesses a critical observation, unless the issue is systemic. Preserve state and recover/export with support before clearing browser storage or reinstalling. Continue the official training assessment through the established process. Do not repeatedly retry a destructive action or choose LOCAL/SERVER without comparing the branches. Reopen a paused mission only after owner review. A disagreement with an SME reference case also needs review; the beta must not quietly redefine a clinical rule.</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counts and denominators for this small formative cohort. Do not represent a satisfaction score, pass-rate difference or a small pilot as clinical validation. Compare instructor judgments on the same approved cases; investigate critical-error disagreement separately from contributor hypotheses. Compare paper/app order across equivalent lanes when practical. Expansion should wait for recovery evidence and critical fixes. Leadership may extend a TEST pilot for usability gaps with owners and retest dates.</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relative schedule is a proposal. Assign actual dates and named people before the brief. The sixty-minute launch does not require every tester to complete all eight missions or all clinical requirements. Use follow-up slots for finalization/closure and the owner-only retention demonstration. Run one short daily triage and return fixes to the original reporter for retest. Give instructors time away from the observation task to report findings rather than adding the burden invisibly during a real lane.</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asking leaders to resource a supervised pilot, not to endorse a finished product. Confirm the named support route and when the site PM will return the consolidated log. The intended deliverable is evidence and a prioritized improvement list, including what instructors want to keep. Current official documentation/process remains authoritative during the beta. App: https://daftccc.github.io/DAF-TCCC-RaPS-WEB/</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named person can have more than one authorized membership, but a role label alone does not grant the other memberships. MAJCOM oversight follows ordinary assigned scope; selecting TEST grants no new access, grading or account administration. Hands-on participants need the operational membership and any necessary assignment. Existing explicit cross-scope assignments retain their ordinary sharing semantics; use only the facilitator-approved fixtures.</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reported startup defect has a local fix; deployed retesting is still required. The following items are additional evidence gaps and operational dependencies. Detailed gates and source references are in facilitator-guide.pdf and README.md. Clinical wording and scoring/lifecycle algorithms were protected by regression comparisons. Physical device use and same-case evaluator agreement still require the pilot. Two retention workers must not be conflated: closed-class automatic retention is pre-existing, while a selected reporting archive needs an Enterprise request and owner-run worker verification. Sources: DEVELOPMENT.md, PERMISSIONS.md, WEB8-DEPLOYMENT.md, app.js. Main source basis: 104aaae9031cbe4c361022ebd380ff169bfca2c9</a:t>
            </a:r>
          </a:p>
          <a:p/>
          <a:p>
            <a:r>
              <a:t>Source basis: DEVELOPMENT.md; PERMISSIONS.md; WEB8-DEPLOYMENT.md</a:t>
            </a:r>
          </a:p>
          <a:p>
            <a:r>
              <a:t>https://github.com/DAFTCCC/DAF-TCCC-RaPS-WEB/blob/104aaae9031cbe4c361022ebd380ff169bfca2c9/</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E99A3C"/>
                </a:solidFill>
                <a:latin typeface="Arial"/>
              </a:defRPr>
            </a:pPr>
            <a:r>
              <a:t>LEADERSHIP AND MAJCOM LAUNCH BRIEF</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FFFFFF"/>
                </a:solidFill>
                <a:latin typeface="Arial"/>
              </a:defRPr>
            </a:pPr>
          </a:p>
        </p:txBody>
      </p:sp>
      <p:sp>
        <p:nvSpPr>
          <p:cNvPr id="6" name="Rectangle 5"/>
          <p:cNvSpPr/>
          <p:nvPr/>
        </p:nvSpPr>
        <p:spPr>
          <a:xfrm>
            <a:off x="521207" y="6391656"/>
            <a:ext cx="11119104" cy="11887"/>
          </a:xfrm>
          <a:prstGeom prst="rect">
            <a:avLst/>
          </a:prstGeom>
          <a:solidFill>
            <a:srgbClr val="355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B9CBD8"/>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B9CBD8"/>
                </a:solidFill>
                <a:latin typeface="Arial"/>
              </a:defRPr>
            </a:pPr>
            <a:r>
              <a:t>01</a:t>
            </a:r>
          </a:p>
        </p:txBody>
      </p:sp>
      <p:sp>
        <p:nvSpPr>
          <p:cNvPr id="9" name="TextBox 8"/>
          <p:cNvSpPr txBox="1"/>
          <p:nvPr/>
        </p:nvSpPr>
        <p:spPr>
          <a:xfrm>
            <a:off x="594360" y="1417320"/>
            <a:ext cx="7726679" cy="1965960"/>
          </a:xfrm>
          <a:prstGeom prst="rect">
            <a:avLst/>
          </a:prstGeom>
          <a:noFill/>
        </p:spPr>
        <p:txBody>
          <a:bodyPr wrap="square" lIns="25400" rIns="25400" tIns="25400" bIns="25400">
            <a:spAutoFit/>
          </a:bodyPr>
          <a:lstStyle/>
          <a:p>
            <a:pPr>
              <a:lnSpc>
                <a:spcPct val="108000"/>
              </a:lnSpc>
              <a:spcAft>
                <a:spcPts val="500"/>
              </a:spcAft>
              <a:defRPr sz="4600" b="1">
                <a:solidFill>
                  <a:srgbClr val="FFFFFF"/>
                </a:solidFill>
                <a:latin typeface="Arial"/>
              </a:defRPr>
            </a:pPr>
            <a:r>
              <a:t>Let instructors</a:t>
            </a:r>
          </a:p>
          <a:p>
            <a:pPr>
              <a:lnSpc>
                <a:spcPct val="108000"/>
              </a:lnSpc>
              <a:spcAft>
                <a:spcPts val="500"/>
              </a:spcAft>
              <a:defRPr sz="4600" b="1">
                <a:solidFill>
                  <a:srgbClr val="FFFFFF"/>
                </a:solidFill>
                <a:latin typeface="Arial"/>
              </a:defRPr>
            </a:pPr>
            <a:r>
              <a:t>try to break RaPS.</a:t>
            </a:r>
          </a:p>
        </p:txBody>
      </p:sp>
      <p:sp>
        <p:nvSpPr>
          <p:cNvPr id="10" name="TextBox 9"/>
          <p:cNvSpPr txBox="1"/>
          <p:nvPr/>
        </p:nvSpPr>
        <p:spPr>
          <a:xfrm>
            <a:off x="621792" y="3675887"/>
            <a:ext cx="7543800" cy="914400"/>
          </a:xfrm>
          <a:prstGeom prst="rect">
            <a:avLst/>
          </a:prstGeom>
          <a:noFill/>
        </p:spPr>
        <p:txBody>
          <a:bodyPr wrap="square" lIns="25400" rIns="25400" tIns="25400" bIns="25400">
            <a:spAutoFit/>
          </a:bodyPr>
          <a:lstStyle/>
          <a:p>
            <a:pPr>
              <a:lnSpc>
                <a:spcPct val="108000"/>
              </a:lnSpc>
              <a:spcAft>
                <a:spcPts val="500"/>
              </a:spcAft>
              <a:defRPr sz="2500" b="0">
                <a:solidFill>
                  <a:srgbClr val="C7D8E4"/>
                </a:solidFill>
                <a:latin typeface="Arial"/>
              </a:defRPr>
            </a:pPr>
            <a:r>
              <a:t>A supervised field beta focused on failures, friction and useful feedback.</a:t>
            </a:r>
          </a:p>
        </p:txBody>
      </p:sp>
      <p:pic>
        <p:nvPicPr>
          <p:cNvPr id="11" name="Picture 10" descr="app-icon.png"/>
          <p:cNvPicPr>
            <a:picLocks noChangeAspect="1"/>
          </p:cNvPicPr>
          <p:nvPr/>
        </p:nvPicPr>
        <p:blipFill>
          <a:blip r:embed="rId2"/>
          <a:stretch>
            <a:fillRect/>
          </a:stretch>
        </p:blipFill>
        <p:spPr>
          <a:xfrm>
            <a:off x="8705088" y="1847088"/>
            <a:ext cx="2606040" cy="2606040"/>
          </a:xfrm>
          <a:prstGeom prst="rect">
            <a:avLst/>
          </a:prstGeom>
        </p:spPr>
      </p:pic>
      <p:sp>
        <p:nvSpPr>
          <p:cNvPr id="12" name="Rounded Rectangle 11"/>
          <p:cNvSpPr/>
          <p:nvPr/>
        </p:nvSpPr>
        <p:spPr>
          <a:xfrm>
            <a:off x="521207" y="5376672"/>
            <a:ext cx="11119104" cy="49377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5440680"/>
            <a:ext cx="10744200" cy="374904"/>
          </a:xfrm>
          <a:prstGeom prst="rect">
            <a:avLst/>
          </a:prstGeom>
          <a:noFill/>
        </p:spPr>
        <p:txBody>
          <a:bodyPr wrap="square" lIns="25400" rIns="25400" tIns="25400" bIns="25400">
            <a:spAutoFit/>
          </a:bodyPr>
          <a:lstStyle/>
          <a:p>
            <a:pPr>
              <a:lnSpc>
                <a:spcPct val="108000"/>
              </a:lnSpc>
              <a:spcAft>
                <a:spcPts val="500"/>
              </a:spcAft>
              <a:defRPr sz="1800" b="1">
                <a:solidFill>
                  <a:srgbClr val="FFFFFF"/>
                </a:solidFill>
                <a:latin typeface="Arial"/>
              </a:defRPr>
            </a:pPr>
            <a:r>
              <a:t>Decision requested: authorize a small TEST 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READINESS RECOMMENDATION</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Clear the start blocker before the pilot</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02</a:t>
            </a:r>
          </a:p>
        </p:txBody>
      </p:sp>
      <p:sp>
        <p:nvSpPr>
          <p:cNvPr id="9" name="Rounded Rectangle 8"/>
          <p:cNvSpPr/>
          <p:nvPr/>
        </p:nvSpPr>
        <p:spPr>
          <a:xfrm>
            <a:off x="521207" y="1856231"/>
            <a:ext cx="3602736" cy="3419856"/>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057400"/>
            <a:ext cx="59436" cy="301752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057400"/>
            <a:ext cx="3008376" cy="621792"/>
          </a:xfrm>
          <a:prstGeom prst="rect">
            <a:avLst/>
          </a:prstGeom>
          <a:noFill/>
        </p:spPr>
        <p:txBody>
          <a:bodyPr wrap="square" lIns="25400" rIns="25400" tIns="25400" bIns="25400">
            <a:spAutoFit/>
          </a:bodyPr>
          <a:lstStyle/>
          <a:p>
            <a:pPr>
              <a:lnSpc>
                <a:spcPct val="108000"/>
              </a:lnSpc>
              <a:spcAft>
                <a:spcPts val="500"/>
              </a:spcAft>
              <a:defRPr sz="2200" b="1">
                <a:solidFill>
                  <a:srgbClr val="102A43"/>
                </a:solidFill>
                <a:latin typeface="Arial"/>
              </a:defRPr>
            </a:pPr>
            <a:r>
              <a:t>Engineering checks</a:t>
            </a:r>
          </a:p>
        </p:txBody>
      </p:sp>
      <p:sp>
        <p:nvSpPr>
          <p:cNvPr id="12" name="TextBox 11"/>
          <p:cNvSpPr txBox="1"/>
          <p:nvPr/>
        </p:nvSpPr>
        <p:spPr>
          <a:xfrm>
            <a:off x="877824" y="2743200"/>
            <a:ext cx="3008376" cy="2395728"/>
          </a:xfrm>
          <a:prstGeom prst="rect">
            <a:avLst/>
          </a:prstGeom>
          <a:noFill/>
        </p:spPr>
        <p:txBody>
          <a:bodyPr wrap="square" lIns="25400" rIns="25400" tIns="25400" bIns="25400">
            <a:spAutoFit/>
          </a:bodyPr>
          <a:lstStyle/>
          <a:p>
            <a:pPr>
              <a:lnSpc>
                <a:spcPct val="108000"/>
              </a:lnSpc>
              <a:spcAft>
                <a:spcPts val="500"/>
              </a:spcAft>
              <a:defRPr sz="2100" b="0">
                <a:solidFill>
                  <a:srgbClr val="516677"/>
                </a:solidFill>
                <a:latin typeface="Arial"/>
              </a:defRPr>
            </a:pPr>
            <a:r>
              <a:t>Startup failure reproduced.</a:t>
            </a:r>
          </a:p>
          <a:p>
            <a:pPr>
              <a:lnSpc>
                <a:spcPct val="108000"/>
              </a:lnSpc>
              <a:spcAft>
                <a:spcPts val="500"/>
              </a:spcAft>
              <a:defRPr sz="2100" b="0">
                <a:solidFill>
                  <a:srgbClr val="516677"/>
                </a:solidFill>
                <a:latin typeface="Arial"/>
              </a:defRPr>
            </a:pPr>
            <a:r>
              <a:t>Regression checks cover the shared fix and normal TEST behavior.</a:t>
            </a:r>
          </a:p>
        </p:txBody>
      </p:sp>
      <p:sp>
        <p:nvSpPr>
          <p:cNvPr id="13" name="Rounded Rectangle 12"/>
          <p:cNvSpPr/>
          <p:nvPr/>
        </p:nvSpPr>
        <p:spPr>
          <a:xfrm>
            <a:off x="4288536" y="1856231"/>
            <a:ext cx="3602736" cy="3419856"/>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53128" y="2057400"/>
            <a:ext cx="59436" cy="301752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2057400"/>
            <a:ext cx="3008376" cy="621792"/>
          </a:xfrm>
          <a:prstGeom prst="rect">
            <a:avLst/>
          </a:prstGeom>
          <a:noFill/>
        </p:spPr>
        <p:txBody>
          <a:bodyPr wrap="square" lIns="25400" rIns="25400" tIns="25400" bIns="25400">
            <a:spAutoFit/>
          </a:bodyPr>
          <a:lstStyle/>
          <a:p>
            <a:pPr>
              <a:lnSpc>
                <a:spcPct val="108000"/>
              </a:lnSpc>
              <a:spcAft>
                <a:spcPts val="500"/>
              </a:spcAft>
              <a:defRPr sz="2100" b="1">
                <a:solidFill>
                  <a:srgbClr val="102A43"/>
                </a:solidFill>
                <a:latin typeface="Arial"/>
              </a:defRPr>
            </a:pPr>
            <a:r>
              <a:t>Deployed foundation</a:t>
            </a:r>
          </a:p>
        </p:txBody>
      </p:sp>
      <p:sp>
        <p:nvSpPr>
          <p:cNvPr id="16" name="TextBox 15"/>
          <p:cNvSpPr txBox="1"/>
          <p:nvPr/>
        </p:nvSpPr>
        <p:spPr>
          <a:xfrm>
            <a:off x="4645152" y="2743200"/>
            <a:ext cx="3008376" cy="2395728"/>
          </a:xfrm>
          <a:prstGeom prst="rect">
            <a:avLst/>
          </a:prstGeom>
          <a:noFill/>
        </p:spPr>
        <p:txBody>
          <a:bodyPr wrap="square" lIns="25400" rIns="25400" tIns="25400" bIns="25400">
            <a:spAutoFit/>
          </a:bodyPr>
          <a:lstStyle/>
          <a:p>
            <a:pPr>
              <a:lnSpc>
                <a:spcPct val="108000"/>
              </a:lnSpc>
              <a:spcAft>
                <a:spcPts val="500"/>
              </a:spcAft>
              <a:defRPr sz="2100" b="0">
                <a:solidFill>
                  <a:srgbClr val="516677"/>
                </a:solidFill>
                <a:latin typeface="Arial"/>
              </a:defRPr>
            </a:pPr>
            <a:r>
              <a:t>Web.8 backend verified.</a:t>
            </a:r>
          </a:p>
          <a:p>
            <a:pPr>
              <a:lnSpc>
                <a:spcPct val="108000"/>
              </a:lnSpc>
              <a:spcAft>
                <a:spcPts val="500"/>
              </a:spcAft>
              <a:defRPr sz="2100" b="0">
                <a:solidFill>
                  <a:srgbClr val="516677"/>
                </a:solidFill>
                <a:latin typeface="Arial"/>
              </a:defRPr>
            </a:pPr>
            <a:r>
              <a:t>Web.9 frontend correction needs publication and a deployed retest.</a:t>
            </a:r>
          </a:p>
        </p:txBody>
      </p:sp>
      <p:sp>
        <p:nvSpPr>
          <p:cNvPr id="17" name="Rounded Rectangle 16"/>
          <p:cNvSpPr/>
          <p:nvPr/>
        </p:nvSpPr>
        <p:spPr>
          <a:xfrm>
            <a:off x="8055864" y="1856231"/>
            <a:ext cx="3602736" cy="3419856"/>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0456" y="2057400"/>
            <a:ext cx="59436" cy="3017520"/>
          </a:xfrm>
          <a:prstGeom prst="rect">
            <a:avLst/>
          </a:prstGeom>
          <a:solidFill>
            <a:srgbClr val="E9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057400"/>
            <a:ext cx="3008376" cy="621792"/>
          </a:xfrm>
          <a:prstGeom prst="rect">
            <a:avLst/>
          </a:prstGeom>
          <a:noFill/>
        </p:spPr>
        <p:txBody>
          <a:bodyPr wrap="square" lIns="25400" rIns="25400" tIns="25400" bIns="25400">
            <a:spAutoFit/>
          </a:bodyPr>
          <a:lstStyle/>
          <a:p>
            <a:pPr>
              <a:lnSpc>
                <a:spcPct val="108000"/>
              </a:lnSpc>
              <a:spcAft>
                <a:spcPts val="500"/>
              </a:spcAft>
              <a:defRPr sz="2000" b="1">
                <a:solidFill>
                  <a:srgbClr val="102A43"/>
                </a:solidFill>
                <a:latin typeface="Arial"/>
              </a:defRPr>
            </a:pPr>
            <a:r>
              <a:t>Field evidence needed</a:t>
            </a:r>
          </a:p>
        </p:txBody>
      </p:sp>
      <p:sp>
        <p:nvSpPr>
          <p:cNvPr id="20" name="TextBox 19"/>
          <p:cNvSpPr txBox="1"/>
          <p:nvPr/>
        </p:nvSpPr>
        <p:spPr>
          <a:xfrm>
            <a:off x="8412480" y="2743200"/>
            <a:ext cx="3008376" cy="2395728"/>
          </a:xfrm>
          <a:prstGeom prst="rect">
            <a:avLst/>
          </a:prstGeom>
          <a:noFill/>
        </p:spPr>
        <p:txBody>
          <a:bodyPr wrap="square" lIns="25400" rIns="25400" tIns="25400" bIns="25400">
            <a:spAutoFit/>
          </a:bodyPr>
          <a:lstStyle/>
          <a:p>
            <a:pPr>
              <a:lnSpc>
                <a:spcPct val="108000"/>
              </a:lnSpc>
              <a:spcAft>
                <a:spcPts val="500"/>
              </a:spcAft>
              <a:defRPr sz="2100" b="0">
                <a:solidFill>
                  <a:srgbClr val="516677"/>
                </a:solidFill>
                <a:latin typeface="Arial"/>
              </a:defRPr>
            </a:pPr>
            <a:r>
              <a:t>Retry the reported class.</a:t>
            </a:r>
          </a:p>
          <a:p>
            <a:pPr>
              <a:lnSpc>
                <a:spcPct val="108000"/>
              </a:lnSpc>
              <a:spcAft>
                <a:spcPts val="500"/>
              </a:spcAft>
              <a:defRPr sz="2100" b="0">
                <a:solidFill>
                  <a:srgbClr val="516677"/>
                </a:solidFill>
                <a:latin typeface="Arial"/>
              </a:defRPr>
            </a:pPr>
            <a:r>
              <a:t>Real devices and recovery.</a:t>
            </a:r>
          </a:p>
          <a:p>
            <a:pPr>
              <a:lnSpc>
                <a:spcPct val="108000"/>
              </a:lnSpc>
              <a:spcAft>
                <a:spcPts val="500"/>
              </a:spcAft>
              <a:defRPr sz="2100" b="0">
                <a:solidFill>
                  <a:srgbClr val="516677"/>
                </a:solidFill>
                <a:latin typeface="Arial"/>
              </a:defRPr>
            </a:pPr>
            <a:r>
              <a:t>Two-user results and retention.</a:t>
            </a:r>
          </a:p>
        </p:txBody>
      </p:sp>
      <p:sp>
        <p:nvSpPr>
          <p:cNvPr id="21" name="Rounded Rectangle 20"/>
          <p:cNvSpPr/>
          <p:nvPr/>
        </p:nvSpPr>
        <p:spPr>
          <a:xfrm>
            <a:off x="521207" y="5742432"/>
            <a:ext cx="11119104" cy="49377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806440"/>
            <a:ext cx="10744200" cy="374904"/>
          </a:xfrm>
          <a:prstGeom prst="rect">
            <a:avLst/>
          </a:prstGeom>
          <a:noFill/>
        </p:spPr>
        <p:txBody>
          <a:bodyPr wrap="square" lIns="25400" rIns="25400" tIns="25400" bIns="25400">
            <a:spAutoFit/>
          </a:bodyPr>
          <a:lstStyle/>
          <a:p>
            <a:pPr>
              <a:lnSpc>
                <a:spcPct val="108000"/>
              </a:lnSpc>
              <a:spcAft>
                <a:spcPts val="500"/>
              </a:spcAft>
              <a:defRPr sz="1800" b="1">
                <a:solidFill>
                  <a:srgbClr val="FFFFFF"/>
                </a:solidFill>
                <a:latin typeface="Arial"/>
              </a:defRPr>
            </a:pPr>
            <a:r>
              <a:t>Hold the cohort until web.9 is published and the owner dry run passes.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PILOT PROPOSAL — ADJUST LOCALLY</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What each command provides</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03</a:t>
            </a:r>
          </a:p>
        </p:txBody>
      </p:sp>
      <p:sp>
        <p:nvSpPr>
          <p:cNvPr id="9" name="Rounded Rectangle 8"/>
          <p:cNvSpPr/>
          <p:nvPr/>
        </p:nvSpPr>
        <p:spPr>
          <a:xfrm>
            <a:off x="521207" y="1773936"/>
            <a:ext cx="5468112" cy="1719072"/>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975104"/>
            <a:ext cx="59436" cy="1316736"/>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975104"/>
            <a:ext cx="4873752"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1 PM + 2 instructors</a:t>
            </a:r>
          </a:p>
        </p:txBody>
      </p:sp>
      <p:sp>
        <p:nvSpPr>
          <p:cNvPr id="12" name="TextBox 11"/>
          <p:cNvSpPr txBox="1"/>
          <p:nvPr/>
        </p:nvSpPr>
        <p:spPr>
          <a:xfrm>
            <a:off x="877824" y="2660904"/>
            <a:ext cx="4873752" cy="694943"/>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A site lead, hands-on testers and an observer when practical.</a:t>
            </a:r>
          </a:p>
        </p:txBody>
      </p:sp>
      <p:sp>
        <p:nvSpPr>
          <p:cNvPr id="13" name="Rounded Rectangle 12"/>
          <p:cNvSpPr/>
          <p:nvPr/>
        </p:nvSpPr>
        <p:spPr>
          <a:xfrm>
            <a:off x="6172200" y="1773936"/>
            <a:ext cx="5468112" cy="1719072"/>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36792" y="1975104"/>
            <a:ext cx="59436" cy="1316736"/>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8816" y="1975104"/>
            <a:ext cx="4873752"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Their normal devices</a:t>
            </a:r>
          </a:p>
        </p:txBody>
      </p:sp>
      <p:sp>
        <p:nvSpPr>
          <p:cNvPr id="16" name="TextBox 15"/>
          <p:cNvSpPr txBox="1"/>
          <p:nvPr/>
        </p:nvSpPr>
        <p:spPr>
          <a:xfrm>
            <a:off x="6528816" y="2660904"/>
            <a:ext cx="4873752" cy="694943"/>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Phone/tablet, browser/PWA, old and new hardware, ordinary connectivity.</a:t>
            </a:r>
          </a:p>
        </p:txBody>
      </p:sp>
      <p:sp>
        <p:nvSpPr>
          <p:cNvPr id="17" name="Rounded Rectangle 16"/>
          <p:cNvSpPr/>
          <p:nvPr/>
        </p:nvSpPr>
        <p:spPr>
          <a:xfrm>
            <a:off x="521207" y="3675887"/>
            <a:ext cx="5468112" cy="1719072"/>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877055"/>
            <a:ext cx="59436" cy="1316736"/>
          </a:xfrm>
          <a:prstGeom prst="rect">
            <a:avLst/>
          </a:prstGeom>
          <a:solidFill>
            <a:srgbClr val="E9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3877055"/>
            <a:ext cx="4873752"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Protected testing time</a:t>
            </a:r>
          </a:p>
        </p:txBody>
      </p:sp>
      <p:sp>
        <p:nvSpPr>
          <p:cNvPr id="20" name="TextBox 19"/>
          <p:cNvSpPr txBox="1"/>
          <p:nvPr/>
        </p:nvSpPr>
        <p:spPr>
          <a:xfrm>
            <a:off x="877824" y="4562855"/>
            <a:ext cx="4873752" cy="694943"/>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A 60-minute launch, then follow-up challenges during the week.</a:t>
            </a:r>
          </a:p>
        </p:txBody>
      </p:sp>
      <p:sp>
        <p:nvSpPr>
          <p:cNvPr id="21" name="Rounded Rectangle 20"/>
          <p:cNvSpPr/>
          <p:nvPr/>
        </p:nvSpPr>
        <p:spPr>
          <a:xfrm>
            <a:off x="6172200" y="3675887"/>
            <a:ext cx="5468112" cy="1719072"/>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36792" y="3877055"/>
            <a:ext cx="59436" cy="1316736"/>
          </a:xfrm>
          <a:prstGeom prst="rect">
            <a:avLst/>
          </a:prstGeom>
          <a:solidFill>
            <a:srgbClr val="E9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28816" y="3877055"/>
            <a:ext cx="4873752"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A feedback owner</a:t>
            </a:r>
          </a:p>
        </p:txBody>
      </p:sp>
      <p:sp>
        <p:nvSpPr>
          <p:cNvPr id="24" name="TextBox 23"/>
          <p:cNvSpPr txBox="1"/>
          <p:nvPr/>
        </p:nvSpPr>
        <p:spPr>
          <a:xfrm>
            <a:off x="6528816" y="4562855"/>
            <a:ext cx="4873752" cy="694943"/>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Instructor → site PM → pilot owner; daily triage and a retest slot.</a:t>
            </a:r>
          </a:p>
        </p:txBody>
      </p:sp>
      <p:sp>
        <p:nvSpPr>
          <p:cNvPr id="25" name="Rounded Rectangle 24"/>
          <p:cNvSpPr/>
          <p:nvPr/>
        </p:nvSpPr>
        <p:spPr>
          <a:xfrm>
            <a:off x="521207" y="5760720"/>
            <a:ext cx="11119104" cy="49377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5824728"/>
            <a:ext cx="10744200" cy="374904"/>
          </a:xfrm>
          <a:prstGeom prst="rect">
            <a:avLst/>
          </a:prstGeom>
          <a:noFill/>
        </p:spPr>
        <p:txBody>
          <a:bodyPr wrap="square" lIns="25400" rIns="25400" tIns="25400" bIns="25400">
            <a:spAutoFit/>
          </a:bodyPr>
          <a:lstStyle/>
          <a:p>
            <a:pPr>
              <a:lnSpc>
                <a:spcPct val="108000"/>
              </a:lnSpc>
              <a:spcAft>
                <a:spcPts val="500"/>
              </a:spcAft>
              <a:defRPr sz="1800" b="1">
                <a:solidFill>
                  <a:srgbClr val="FFFFFF"/>
                </a:solidFill>
                <a:latin typeface="Arial"/>
              </a:defRPr>
            </a:pPr>
            <a:r>
              <a:t>Start with 2–3 sites over one week. Expand the cohort after 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USE THE ORDINARY ENVIRONMENT AND WORKFLOW</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TEST is one more supported MAJCOM</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04</a:t>
            </a:r>
          </a:p>
        </p:txBody>
      </p:sp>
      <p:sp>
        <p:nvSpPr>
          <p:cNvPr id="9" name="Rounded Rectangle 8"/>
          <p:cNvSpPr/>
          <p:nvPr/>
        </p:nvSpPr>
        <p:spPr>
          <a:xfrm>
            <a:off x="521207" y="1847088"/>
            <a:ext cx="5468112" cy="2359152"/>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048256"/>
            <a:ext cx="59436" cy="1956816"/>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048256"/>
            <a:ext cx="4873752"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Same installations</a:t>
            </a:r>
          </a:p>
        </p:txBody>
      </p:sp>
      <p:sp>
        <p:nvSpPr>
          <p:cNvPr id="12" name="TextBox 11"/>
          <p:cNvSpPr txBox="1"/>
          <p:nvPr/>
        </p:nvSpPr>
        <p:spPr>
          <a:xfrm>
            <a:off x="877824" y="2734056"/>
            <a:ext cx="4873752" cy="1335024"/>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Select TEST, then an existing installation.</a:t>
            </a:r>
          </a:p>
          <a:p>
            <a:pPr>
              <a:lnSpc>
                <a:spcPct val="108000"/>
              </a:lnSpc>
              <a:spcAft>
                <a:spcPts val="500"/>
              </a:spcAft>
              <a:defRPr sz="1900" b="0">
                <a:solidFill>
                  <a:srgbClr val="516677"/>
                </a:solidFill>
                <a:latin typeface="Arial"/>
              </a:defRPr>
            </a:pPr>
            <a:r>
              <a:t>All 73 physical locations are available; no new duplicate locations.</a:t>
            </a:r>
          </a:p>
        </p:txBody>
      </p:sp>
      <p:sp>
        <p:nvSpPr>
          <p:cNvPr id="13" name="Rounded Rectangle 12"/>
          <p:cNvSpPr/>
          <p:nvPr/>
        </p:nvSpPr>
        <p:spPr>
          <a:xfrm>
            <a:off x="6172200" y="1847088"/>
            <a:ext cx="5468112" cy="2359152"/>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36792" y="2048256"/>
            <a:ext cx="59436" cy="1956816"/>
          </a:xfrm>
          <a:prstGeom prst="rect">
            <a:avLst/>
          </a:prstGeom>
          <a:solidFill>
            <a:srgbClr val="E9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8816" y="2048256"/>
            <a:ext cx="4873752"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Same training workflow</a:t>
            </a:r>
          </a:p>
        </p:txBody>
      </p:sp>
      <p:sp>
        <p:nvSpPr>
          <p:cNvPr id="16" name="TextBox 15"/>
          <p:cNvSpPr txBox="1"/>
          <p:nvPr/>
        </p:nvSpPr>
        <p:spPr>
          <a:xfrm>
            <a:off x="6528816" y="2734056"/>
            <a:ext cx="4873752" cy="1335024"/>
          </a:xfrm>
          <a:prstGeom prst="rect">
            <a:avLst/>
          </a:prstGeom>
          <a:noFill/>
        </p:spPr>
        <p:txBody>
          <a:bodyPr wrap="square" lIns="25400" rIns="25400" tIns="25400" bIns="25400">
            <a:spAutoFit/>
          </a:bodyPr>
          <a:lstStyle/>
          <a:p>
            <a:pPr>
              <a:lnSpc>
                <a:spcPct val="108000"/>
              </a:lnSpc>
              <a:spcAft>
                <a:spcPts val="500"/>
              </a:spcAft>
              <a:defRPr sz="2000" b="0">
                <a:solidFill>
                  <a:srgbClr val="516677"/>
                </a:solidFill>
                <a:latin typeface="Arial"/>
              </a:defRPr>
            </a:pPr>
            <a:r>
              <a:t>Create, start, observe, sync, finalize and close through the normal controls and permission rules.</a:t>
            </a:r>
          </a:p>
        </p:txBody>
      </p:sp>
      <p:sp>
        <p:nvSpPr>
          <p:cNvPr id="17" name="TextBox 16"/>
          <p:cNvSpPr txBox="1"/>
          <p:nvPr/>
        </p:nvSpPr>
        <p:spPr>
          <a:xfrm>
            <a:off x="685800" y="4453128"/>
            <a:ext cx="10881360" cy="640080"/>
          </a:xfrm>
          <a:prstGeom prst="rect">
            <a:avLst/>
          </a:prstGeom>
          <a:noFill/>
        </p:spPr>
        <p:txBody>
          <a:bodyPr wrap="square" lIns="25400" rIns="25400" tIns="25400" bIns="25400">
            <a:spAutoFit/>
          </a:bodyPr>
          <a:lstStyle/>
          <a:p>
            <a:pPr>
              <a:lnSpc>
                <a:spcPct val="108000"/>
              </a:lnSpc>
              <a:spcAft>
                <a:spcPts val="500"/>
              </a:spcAft>
              <a:defRPr sz="2000" b="1">
                <a:solidFill>
                  <a:srgbClr val="102A43"/>
                </a:solidFill>
                <a:latin typeface="Arial"/>
              </a:defRPr>
            </a:pPr>
            <a:r>
              <a:t>All MAJCOMs includes TEST. Use fictitious learners and clearly named beta classes.</a:t>
            </a:r>
          </a:p>
        </p:txBody>
      </p:sp>
      <p:sp>
        <p:nvSpPr>
          <p:cNvPr id="18" name="TextBox 17"/>
          <p:cNvSpPr txBox="1"/>
          <p:nvPr/>
        </p:nvSpPr>
        <p:spPr>
          <a:xfrm>
            <a:off x="685800" y="5312664"/>
            <a:ext cx="10881360" cy="704088"/>
          </a:xfrm>
          <a:prstGeom prst="rect">
            <a:avLst/>
          </a:prstGeom>
          <a:noFill/>
        </p:spPr>
        <p:txBody>
          <a:bodyPr wrap="square" lIns="25400" rIns="25400" tIns="25400" bIns="25400">
            <a:spAutoFit/>
          </a:bodyPr>
          <a:lstStyle/>
          <a:p>
            <a:pPr>
              <a:lnSpc>
                <a:spcPct val="108000"/>
              </a:lnSpc>
              <a:spcAft>
                <a:spcPts val="500"/>
              </a:spcAft>
              <a:defRPr sz="2000" b="0">
                <a:solidFill>
                  <a:srgbClr val="516677"/>
                </a:solidFill>
                <a:latin typeface="Arial"/>
              </a:defRPr>
            </a:pPr>
            <a:r>
              <a:t>Supported MAJCOM is a training label. Assigned installation roles and explicit sharing control access.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FOUR PREFLIGHT GATES</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Owner dry run before instructors arrive</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05</a:t>
            </a:r>
          </a:p>
        </p:txBody>
      </p:sp>
      <p:sp>
        <p:nvSpPr>
          <p:cNvPr id="9" name="Rounded Rectangle 8"/>
          <p:cNvSpPr/>
          <p:nvPr/>
        </p:nvSpPr>
        <p:spPr>
          <a:xfrm>
            <a:off x="557784" y="1828800"/>
            <a:ext cx="539496" cy="53949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1901952"/>
            <a:ext cx="438912" cy="365760"/>
          </a:xfrm>
          <a:prstGeom prst="rect">
            <a:avLst/>
          </a:prstGeom>
          <a:noFill/>
        </p:spPr>
        <p:txBody>
          <a:bodyPr wrap="square" lIns="25400" rIns="25400" tIns="25400" bIns="25400">
            <a:spAutoFit/>
          </a:bodyPr>
          <a:lstStyle/>
          <a:p>
            <a:pPr>
              <a:lnSpc>
                <a:spcPct val="108000"/>
              </a:lnSpc>
              <a:spcAft>
                <a:spcPts val="500"/>
              </a:spcAft>
              <a:defRPr sz="1700" b="1">
                <a:solidFill>
                  <a:srgbClr val="FFFFFF"/>
                </a:solidFill>
                <a:latin typeface="Arial"/>
              </a:defRPr>
            </a:pPr>
            <a:r>
              <a:t>01</a:t>
            </a:r>
          </a:p>
        </p:txBody>
      </p:sp>
      <p:sp>
        <p:nvSpPr>
          <p:cNvPr id="11" name="TextBox 10"/>
          <p:cNvSpPr txBox="1"/>
          <p:nvPr/>
        </p:nvSpPr>
        <p:spPr>
          <a:xfrm>
            <a:off x="1298448" y="1783080"/>
            <a:ext cx="10012680" cy="365760"/>
          </a:xfrm>
          <a:prstGeom prst="rect">
            <a:avLst/>
          </a:prstGeom>
          <a:noFill/>
        </p:spPr>
        <p:txBody>
          <a:bodyPr wrap="square" lIns="25400" rIns="25400" tIns="25400" bIns="25400">
            <a:spAutoFit/>
          </a:bodyPr>
          <a:lstStyle/>
          <a:p>
            <a:pPr>
              <a:lnSpc>
                <a:spcPct val="108000"/>
              </a:lnSpc>
              <a:spcAft>
                <a:spcPts val="500"/>
              </a:spcAft>
              <a:defRPr sz="1700" b="1">
                <a:solidFill>
                  <a:srgbClr val="102A43"/>
                </a:solidFill>
                <a:latin typeface="Arial"/>
              </a:defRPr>
            </a:pPr>
            <a:r>
              <a:t>Release on the device</a:t>
            </a:r>
          </a:p>
        </p:txBody>
      </p:sp>
      <p:sp>
        <p:nvSpPr>
          <p:cNvPr id="12" name="TextBox 11"/>
          <p:cNvSpPr txBox="1"/>
          <p:nvPr/>
        </p:nvSpPr>
        <p:spPr>
          <a:xfrm>
            <a:off x="1298448" y="2185416"/>
            <a:ext cx="10012680" cy="448056"/>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Every participating browser/PWA shows 3.4.12-web.9.</a:t>
            </a:r>
          </a:p>
        </p:txBody>
      </p:sp>
      <p:sp>
        <p:nvSpPr>
          <p:cNvPr id="13" name="Rounded Rectangle 12"/>
          <p:cNvSpPr/>
          <p:nvPr/>
        </p:nvSpPr>
        <p:spPr>
          <a:xfrm>
            <a:off x="557784" y="2779776"/>
            <a:ext cx="539496" cy="53949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2648" y="2852928"/>
            <a:ext cx="438912" cy="365760"/>
          </a:xfrm>
          <a:prstGeom prst="rect">
            <a:avLst/>
          </a:prstGeom>
          <a:noFill/>
        </p:spPr>
        <p:txBody>
          <a:bodyPr wrap="square" lIns="25400" rIns="25400" tIns="25400" bIns="25400">
            <a:spAutoFit/>
          </a:bodyPr>
          <a:lstStyle/>
          <a:p>
            <a:pPr>
              <a:lnSpc>
                <a:spcPct val="108000"/>
              </a:lnSpc>
              <a:spcAft>
                <a:spcPts val="500"/>
              </a:spcAft>
              <a:defRPr sz="1700" b="1">
                <a:solidFill>
                  <a:srgbClr val="FFFFFF"/>
                </a:solidFill>
                <a:latin typeface="Arial"/>
              </a:defRPr>
            </a:pPr>
            <a:r>
              <a:t>02</a:t>
            </a:r>
          </a:p>
        </p:txBody>
      </p:sp>
      <p:sp>
        <p:nvSpPr>
          <p:cNvPr id="15" name="TextBox 14"/>
          <p:cNvSpPr txBox="1"/>
          <p:nvPr/>
        </p:nvSpPr>
        <p:spPr>
          <a:xfrm>
            <a:off x="1298448" y="2734056"/>
            <a:ext cx="10012680" cy="365760"/>
          </a:xfrm>
          <a:prstGeom prst="rect">
            <a:avLst/>
          </a:prstGeom>
          <a:noFill/>
        </p:spPr>
        <p:txBody>
          <a:bodyPr wrap="square" lIns="25400" rIns="25400" tIns="25400" bIns="25400">
            <a:spAutoFit/>
          </a:bodyPr>
          <a:lstStyle/>
          <a:p>
            <a:pPr>
              <a:lnSpc>
                <a:spcPct val="108000"/>
              </a:lnSpc>
              <a:spcAft>
                <a:spcPts val="500"/>
              </a:spcAft>
              <a:defRPr sz="1700" b="1">
                <a:solidFill>
                  <a:srgbClr val="102A43"/>
                </a:solidFill>
                <a:latin typeface="Arial"/>
              </a:defRPr>
            </a:pPr>
            <a:r>
              <a:t>Real sign-in and recovery</a:t>
            </a:r>
          </a:p>
        </p:txBody>
      </p:sp>
      <p:sp>
        <p:nvSpPr>
          <p:cNvPr id="16" name="TextBox 15"/>
          <p:cNvSpPr txBox="1"/>
          <p:nvPr/>
        </p:nvSpPr>
        <p:spPr>
          <a:xfrm>
            <a:off x="1298448" y="3136392"/>
            <a:ext cx="10012680" cy="448056"/>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Temporary password → new password → fresh login; reset and scope checks.</a:t>
            </a:r>
          </a:p>
        </p:txBody>
      </p:sp>
      <p:sp>
        <p:nvSpPr>
          <p:cNvPr id="17" name="Rounded Rectangle 16"/>
          <p:cNvSpPr/>
          <p:nvPr/>
        </p:nvSpPr>
        <p:spPr>
          <a:xfrm>
            <a:off x="557784" y="3730752"/>
            <a:ext cx="539496" cy="53949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648" y="3803904"/>
            <a:ext cx="438912" cy="365760"/>
          </a:xfrm>
          <a:prstGeom prst="rect">
            <a:avLst/>
          </a:prstGeom>
          <a:noFill/>
        </p:spPr>
        <p:txBody>
          <a:bodyPr wrap="square" lIns="25400" rIns="25400" tIns="25400" bIns="25400">
            <a:spAutoFit/>
          </a:bodyPr>
          <a:lstStyle/>
          <a:p>
            <a:pPr>
              <a:lnSpc>
                <a:spcPct val="108000"/>
              </a:lnSpc>
              <a:spcAft>
                <a:spcPts val="500"/>
              </a:spcAft>
              <a:defRPr sz="1700" b="1">
                <a:solidFill>
                  <a:srgbClr val="FFFFFF"/>
                </a:solidFill>
                <a:latin typeface="Arial"/>
              </a:defRPr>
            </a:pPr>
            <a:r>
              <a:t>03</a:t>
            </a:r>
          </a:p>
        </p:txBody>
      </p:sp>
      <p:sp>
        <p:nvSpPr>
          <p:cNvPr id="19" name="TextBox 18"/>
          <p:cNvSpPr txBox="1"/>
          <p:nvPr/>
        </p:nvSpPr>
        <p:spPr>
          <a:xfrm>
            <a:off x="1298448" y="3685032"/>
            <a:ext cx="10012680" cy="365760"/>
          </a:xfrm>
          <a:prstGeom prst="rect">
            <a:avLst/>
          </a:prstGeom>
          <a:noFill/>
        </p:spPr>
        <p:txBody>
          <a:bodyPr wrap="square" lIns="25400" rIns="25400" tIns="25400" bIns="25400">
            <a:spAutoFit/>
          </a:bodyPr>
          <a:lstStyle/>
          <a:p>
            <a:pPr>
              <a:lnSpc>
                <a:spcPct val="108000"/>
              </a:lnSpc>
              <a:spcAft>
                <a:spcPts val="500"/>
              </a:spcAft>
              <a:defRPr sz="1700" b="1">
                <a:solidFill>
                  <a:srgbClr val="102A43"/>
                </a:solidFill>
                <a:latin typeface="Arial"/>
              </a:defRPr>
            </a:pPr>
            <a:r>
              <a:t>A known case on two devices</a:t>
            </a:r>
          </a:p>
        </p:txBody>
      </p:sp>
      <p:sp>
        <p:nvSpPr>
          <p:cNvPr id="20" name="TextBox 19"/>
          <p:cNvSpPr txBox="1"/>
          <p:nvPr/>
        </p:nvSpPr>
        <p:spPr>
          <a:xfrm>
            <a:off x="1298448" y="4087368"/>
            <a:ext cx="10012680" cy="448056"/>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Claim, save, sync, finalize and reconcile the stored result with the SME case.</a:t>
            </a:r>
          </a:p>
        </p:txBody>
      </p:sp>
      <p:sp>
        <p:nvSpPr>
          <p:cNvPr id="21" name="Rounded Rectangle 20"/>
          <p:cNvSpPr/>
          <p:nvPr/>
        </p:nvSpPr>
        <p:spPr>
          <a:xfrm>
            <a:off x="557784" y="4681728"/>
            <a:ext cx="539496" cy="53949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648" y="4754880"/>
            <a:ext cx="438912" cy="365760"/>
          </a:xfrm>
          <a:prstGeom prst="rect">
            <a:avLst/>
          </a:prstGeom>
          <a:noFill/>
        </p:spPr>
        <p:txBody>
          <a:bodyPr wrap="square" lIns="25400" rIns="25400" tIns="25400" bIns="25400">
            <a:spAutoFit/>
          </a:bodyPr>
          <a:lstStyle/>
          <a:p>
            <a:pPr>
              <a:lnSpc>
                <a:spcPct val="108000"/>
              </a:lnSpc>
              <a:spcAft>
                <a:spcPts val="500"/>
              </a:spcAft>
              <a:defRPr sz="1700" b="1">
                <a:solidFill>
                  <a:srgbClr val="FFFFFF"/>
                </a:solidFill>
                <a:latin typeface="Arial"/>
              </a:defRPr>
            </a:pPr>
            <a:r>
              <a:t>04</a:t>
            </a:r>
          </a:p>
        </p:txBody>
      </p:sp>
      <p:sp>
        <p:nvSpPr>
          <p:cNvPr id="23" name="TextBox 22"/>
          <p:cNvSpPr txBox="1"/>
          <p:nvPr/>
        </p:nvSpPr>
        <p:spPr>
          <a:xfrm>
            <a:off x="1298448" y="4636008"/>
            <a:ext cx="10012680" cy="365760"/>
          </a:xfrm>
          <a:prstGeom prst="rect">
            <a:avLst/>
          </a:prstGeom>
          <a:noFill/>
        </p:spPr>
        <p:txBody>
          <a:bodyPr wrap="square" lIns="25400" rIns="25400" tIns="25400" bIns="25400">
            <a:spAutoFit/>
          </a:bodyPr>
          <a:lstStyle/>
          <a:p>
            <a:pPr>
              <a:lnSpc>
                <a:spcPct val="108000"/>
              </a:lnSpc>
              <a:spcAft>
                <a:spcPts val="500"/>
              </a:spcAft>
              <a:defRPr sz="1700" b="1">
                <a:solidFill>
                  <a:srgbClr val="102A43"/>
                </a:solidFill>
                <a:latin typeface="Arial"/>
              </a:defRPr>
            </a:pPr>
            <a:r>
              <a:t>Support and retention ownership</a:t>
            </a:r>
          </a:p>
        </p:txBody>
      </p:sp>
      <p:sp>
        <p:nvSpPr>
          <p:cNvPr id="24" name="TextBox 23"/>
          <p:cNvSpPr txBox="1"/>
          <p:nvPr/>
        </p:nvSpPr>
        <p:spPr>
          <a:xfrm>
            <a:off x="1298448" y="5038344"/>
            <a:ext cx="10012680" cy="448056"/>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Named support path, official-process fallback, both archive workflows checked.</a:t>
            </a:r>
          </a:p>
        </p:txBody>
      </p:sp>
      <p:sp>
        <p:nvSpPr>
          <p:cNvPr id="25" name="TextBox 24"/>
          <p:cNvSpPr txBox="1"/>
          <p:nvPr/>
        </p:nvSpPr>
        <p:spPr>
          <a:xfrm>
            <a:off x="603504" y="5760720"/>
            <a:ext cx="11018520" cy="438912"/>
          </a:xfrm>
          <a:prstGeom prst="rect">
            <a:avLst/>
          </a:prstGeom>
          <a:noFill/>
        </p:spPr>
        <p:txBody>
          <a:bodyPr wrap="square" lIns="25400" rIns="25400" tIns="25400" bIns="25400">
            <a:spAutoFit/>
          </a:bodyPr>
          <a:lstStyle/>
          <a:p>
            <a:pPr>
              <a:lnSpc>
                <a:spcPct val="108000"/>
              </a:lnSpc>
              <a:spcAft>
                <a:spcPts val="500"/>
              </a:spcAft>
              <a:defRPr sz="1700" b="0">
                <a:solidFill>
                  <a:srgbClr val="516677"/>
                </a:solidFill>
                <a:latin typeface="Arial"/>
              </a:defRPr>
            </a:pPr>
            <a:r>
              <a:t>Before meaningful record retention or expansion: verify off-NUC backup and an isolated restore.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THE BREAK-IT CHALLENGE</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Give instructors permission to be difficult</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06</a:t>
            </a:r>
          </a:p>
        </p:txBody>
      </p:sp>
      <p:sp>
        <p:nvSpPr>
          <p:cNvPr id="9" name="Rounded Rectangle 8"/>
          <p:cNvSpPr/>
          <p:nvPr/>
        </p:nvSpPr>
        <p:spPr>
          <a:xfrm>
            <a:off x="521207" y="1792224"/>
            <a:ext cx="5468112" cy="1801368"/>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1993392"/>
            <a:ext cx="59436" cy="1399032"/>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1993392"/>
            <a:ext cx="4873752"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PRESS THE INTERFACE</a:t>
            </a:r>
          </a:p>
        </p:txBody>
      </p:sp>
      <p:sp>
        <p:nvSpPr>
          <p:cNvPr id="12" name="TextBox 11"/>
          <p:cNvSpPr txBox="1"/>
          <p:nvPr/>
        </p:nvSpPr>
        <p:spPr>
          <a:xfrm>
            <a:off x="877824" y="2679191"/>
            <a:ext cx="4873752" cy="777239"/>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Mistap. Undo. Enter long notes. Rotate. Use gloves and the keyboard.</a:t>
            </a:r>
          </a:p>
        </p:txBody>
      </p:sp>
      <p:sp>
        <p:nvSpPr>
          <p:cNvPr id="13" name="Rounded Rectangle 12"/>
          <p:cNvSpPr/>
          <p:nvPr/>
        </p:nvSpPr>
        <p:spPr>
          <a:xfrm>
            <a:off x="6172200" y="1792224"/>
            <a:ext cx="5468112" cy="1801368"/>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36792" y="1993392"/>
            <a:ext cx="59436" cy="1399032"/>
          </a:xfrm>
          <a:prstGeom prst="rect">
            <a:avLst/>
          </a:prstGeom>
          <a:solidFill>
            <a:srgbClr val="E9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28816" y="1993392"/>
            <a:ext cx="4873752"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INTERRUPT THE SESSION</a:t>
            </a:r>
          </a:p>
        </p:txBody>
      </p:sp>
      <p:sp>
        <p:nvSpPr>
          <p:cNvPr id="16" name="TextBox 15"/>
          <p:cNvSpPr txBox="1"/>
          <p:nvPr/>
        </p:nvSpPr>
        <p:spPr>
          <a:xfrm>
            <a:off x="6528816" y="2679191"/>
            <a:ext cx="4873752" cy="777239"/>
          </a:xfrm>
          <a:prstGeom prst="rect">
            <a:avLst/>
          </a:prstGeom>
          <a:noFill/>
        </p:spPr>
        <p:txBody>
          <a:bodyPr wrap="square" lIns="25400" rIns="25400" tIns="25400" bIns="25400">
            <a:spAutoFit/>
          </a:bodyPr>
          <a:lstStyle/>
          <a:p>
            <a:pPr>
              <a:lnSpc>
                <a:spcPct val="108000"/>
              </a:lnSpc>
              <a:spcAft>
                <a:spcPts val="500"/>
              </a:spcAft>
              <a:defRPr sz="2000" b="0">
                <a:solidFill>
                  <a:srgbClr val="516677"/>
                </a:solidFill>
                <a:latin typeface="Arial"/>
              </a:defRPr>
            </a:pPr>
            <a:r>
              <a:t>Background. Lock. Return. Reload. Check active timer recovery.</a:t>
            </a:r>
          </a:p>
        </p:txBody>
      </p:sp>
      <p:sp>
        <p:nvSpPr>
          <p:cNvPr id="17" name="Rounded Rectangle 16"/>
          <p:cNvSpPr/>
          <p:nvPr/>
        </p:nvSpPr>
        <p:spPr>
          <a:xfrm>
            <a:off x="521207" y="3767328"/>
            <a:ext cx="5468112" cy="1801368"/>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968496"/>
            <a:ext cx="59436" cy="1399032"/>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3968496"/>
            <a:ext cx="4873752"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LOSE THE CONNECTION</a:t>
            </a:r>
          </a:p>
        </p:txBody>
      </p:sp>
      <p:sp>
        <p:nvSpPr>
          <p:cNvPr id="20" name="TextBox 19"/>
          <p:cNvSpPr txBox="1"/>
          <p:nvPr/>
        </p:nvSpPr>
        <p:spPr>
          <a:xfrm>
            <a:off x="877824" y="4654296"/>
            <a:ext cx="4873752" cy="777239"/>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Claim online, disconnect, record, reconnect and compare exact entries.</a:t>
            </a:r>
          </a:p>
        </p:txBody>
      </p:sp>
      <p:sp>
        <p:nvSpPr>
          <p:cNvPr id="21" name="Rounded Rectangle 20"/>
          <p:cNvSpPr/>
          <p:nvPr/>
        </p:nvSpPr>
        <p:spPr>
          <a:xfrm>
            <a:off x="6172200" y="3767328"/>
            <a:ext cx="5468112" cy="1801368"/>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36792" y="3968496"/>
            <a:ext cx="59436" cy="1399032"/>
          </a:xfrm>
          <a:prstGeom prst="rect">
            <a:avLst/>
          </a:prstGeom>
          <a:solidFill>
            <a:srgbClr val="E9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28816" y="3968496"/>
            <a:ext cx="4873752"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COLLIDE WORKFLOWS</a:t>
            </a:r>
          </a:p>
        </p:txBody>
      </p:sp>
      <p:sp>
        <p:nvSpPr>
          <p:cNvPr id="24" name="TextBox 23"/>
          <p:cNvSpPr txBox="1"/>
          <p:nvPr/>
        </p:nvSpPr>
        <p:spPr>
          <a:xfrm>
            <a:off x="6528816" y="4654296"/>
            <a:ext cx="4873752" cy="777239"/>
          </a:xfrm>
          <a:prstGeom prst="rect">
            <a:avLst/>
          </a:prstGeom>
          <a:noFill/>
        </p:spPr>
        <p:txBody>
          <a:bodyPr wrap="square" lIns="25400" rIns="25400" tIns="25400" bIns="25400">
            <a:spAutoFit/>
          </a:bodyPr>
          <a:lstStyle/>
          <a:p>
            <a:pPr>
              <a:lnSpc>
                <a:spcPct val="108000"/>
              </a:lnSpc>
              <a:spcAft>
                <a:spcPts val="500"/>
              </a:spcAft>
              <a:defRPr sz="1800" b="0">
                <a:solidFill>
                  <a:srgbClr val="516677"/>
                </a:solidFill>
                <a:latin typeface="Arial"/>
              </a:defRPr>
            </a:pPr>
            <a:r>
              <a:t>Two devices. Two evaluators. Stale views. Final records and scoped reports.</a:t>
            </a:r>
          </a:p>
        </p:txBody>
      </p:sp>
      <p:sp>
        <p:nvSpPr>
          <p:cNvPr id="25" name="Rounded Rectangle 24"/>
          <p:cNvSpPr/>
          <p:nvPr/>
        </p:nvSpPr>
        <p:spPr>
          <a:xfrm>
            <a:off x="521207" y="5779008"/>
            <a:ext cx="11119104" cy="49377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5843016"/>
            <a:ext cx="10744200" cy="374904"/>
          </a:xfrm>
          <a:prstGeom prst="rect">
            <a:avLst/>
          </a:prstGeom>
          <a:noFill/>
        </p:spPr>
        <p:txBody>
          <a:bodyPr wrap="square" lIns="25400" rIns="25400" tIns="25400" bIns="25400">
            <a:spAutoFit/>
          </a:bodyPr>
          <a:lstStyle/>
          <a:p>
            <a:pPr>
              <a:lnSpc>
                <a:spcPct val="108000"/>
              </a:lnSpc>
              <a:spcAft>
                <a:spcPts val="500"/>
              </a:spcAft>
              <a:defRPr sz="1800" b="1">
                <a:solidFill>
                  <a:srgbClr val="FFFFFF"/>
                </a:solidFill>
                <a:latin typeface="Arial"/>
              </a:defRPr>
            </a:pPr>
            <a:r>
              <a:t>Use ordinary interface actions and disposable TEST cases. Capture what happens.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BRIEF THESE BEFORE CALLING SOMETHING A BUG</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Expected safeguards are part of the test</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07</a:t>
            </a:r>
          </a:p>
        </p:txBody>
      </p:sp>
      <p:sp>
        <p:nvSpPr>
          <p:cNvPr id="9" name="Rounded Rectangle 8"/>
          <p:cNvSpPr/>
          <p:nvPr/>
        </p:nvSpPr>
        <p:spPr>
          <a:xfrm>
            <a:off x="557784" y="1801368"/>
            <a:ext cx="11045952" cy="914400"/>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56816"/>
            <a:ext cx="2267712" cy="585216"/>
          </a:xfrm>
          <a:prstGeom prst="rect">
            <a:avLst/>
          </a:prstGeom>
          <a:noFill/>
        </p:spPr>
        <p:txBody>
          <a:bodyPr wrap="square" lIns="25400" rIns="25400" tIns="25400" bIns="25400">
            <a:spAutoFit/>
          </a:bodyPr>
          <a:lstStyle/>
          <a:p>
            <a:pPr>
              <a:lnSpc>
                <a:spcPct val="108000"/>
              </a:lnSpc>
              <a:spcAft>
                <a:spcPts val="500"/>
              </a:spcAft>
              <a:defRPr sz="2100" b="1">
                <a:solidFill>
                  <a:srgbClr val="007F86"/>
                </a:solidFill>
                <a:latin typeface="Arial"/>
              </a:defRPr>
            </a:pPr>
            <a:r>
              <a:t>Offline work</a:t>
            </a:r>
          </a:p>
        </p:txBody>
      </p:sp>
      <p:sp>
        <p:nvSpPr>
          <p:cNvPr id="11" name="TextBox 10"/>
          <p:cNvSpPr txBox="1"/>
          <p:nvPr/>
        </p:nvSpPr>
        <p:spPr>
          <a:xfrm>
            <a:off x="3136392" y="1938528"/>
            <a:ext cx="8211312" cy="694944"/>
          </a:xfrm>
          <a:prstGeom prst="rect">
            <a:avLst/>
          </a:prstGeom>
          <a:noFill/>
        </p:spPr>
        <p:txBody>
          <a:bodyPr wrap="square" lIns="25400" rIns="25400" tIns="25400" bIns="25400">
            <a:spAutoFit/>
          </a:bodyPr>
          <a:lstStyle/>
          <a:p>
            <a:pPr>
              <a:lnSpc>
                <a:spcPct val="108000"/>
              </a:lnSpc>
              <a:spcAft>
                <a:spcPts val="500"/>
              </a:spcAft>
              <a:defRPr sz="1900" b="0">
                <a:solidFill>
                  <a:srgbClr val="17354B"/>
                </a:solidFill>
                <a:latin typeface="Arial"/>
              </a:defRPr>
            </a:pPr>
            <a:r>
              <a:t>Continue a previously claimed assessment. New starts, finalization, void and close require the server.</a:t>
            </a:r>
          </a:p>
        </p:txBody>
      </p:sp>
      <p:sp>
        <p:nvSpPr>
          <p:cNvPr id="12" name="Rounded Rectangle 11"/>
          <p:cNvSpPr/>
          <p:nvPr/>
        </p:nvSpPr>
        <p:spPr>
          <a:xfrm>
            <a:off x="557784" y="2816352"/>
            <a:ext cx="11045952" cy="914400"/>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2971800"/>
            <a:ext cx="2267712" cy="585216"/>
          </a:xfrm>
          <a:prstGeom prst="rect">
            <a:avLst/>
          </a:prstGeom>
          <a:noFill/>
        </p:spPr>
        <p:txBody>
          <a:bodyPr wrap="square" lIns="25400" rIns="25400" tIns="25400" bIns="25400">
            <a:spAutoFit/>
          </a:bodyPr>
          <a:lstStyle/>
          <a:p>
            <a:pPr>
              <a:lnSpc>
                <a:spcPct val="108000"/>
              </a:lnSpc>
              <a:spcAft>
                <a:spcPts val="500"/>
              </a:spcAft>
              <a:defRPr sz="1700" b="1">
                <a:solidFill>
                  <a:srgbClr val="007F86"/>
                </a:solidFill>
                <a:latin typeface="Arial"/>
              </a:defRPr>
            </a:pPr>
            <a:r>
              <a:t>Actual timer reload</a:t>
            </a:r>
          </a:p>
        </p:txBody>
      </p:sp>
      <p:sp>
        <p:nvSpPr>
          <p:cNvPr id="14" name="TextBox 13"/>
          <p:cNvSpPr txBox="1"/>
          <p:nvPr/>
        </p:nvSpPr>
        <p:spPr>
          <a:xfrm>
            <a:off x="3136392" y="2953512"/>
            <a:ext cx="8211312" cy="694944"/>
          </a:xfrm>
          <a:prstGeom prst="rect">
            <a:avLst/>
          </a:prstGeom>
          <a:noFill/>
        </p:spPr>
        <p:txBody>
          <a:bodyPr wrap="square" lIns="25400" rIns="25400" tIns="25400" bIns="25400">
            <a:spAutoFit/>
          </a:bodyPr>
          <a:lstStyle/>
          <a:p>
            <a:pPr>
              <a:lnSpc>
                <a:spcPct val="108000"/>
              </a:lnSpc>
              <a:spcAft>
                <a:spcPts val="500"/>
              </a:spcAft>
              <a:defRPr sz="1900" b="0">
                <a:solidFill>
                  <a:srgbClr val="17354B"/>
                </a:solidFill>
                <a:latin typeface="Arial"/>
              </a:defRPr>
            </a:pPr>
            <a:r>
              <a:t>Recovery requires VOID with a reason, then a new instance and a repeated approved timed performance.</a:t>
            </a:r>
          </a:p>
        </p:txBody>
      </p:sp>
      <p:sp>
        <p:nvSpPr>
          <p:cNvPr id="15" name="Rounded Rectangle 14"/>
          <p:cNvSpPr/>
          <p:nvPr/>
        </p:nvSpPr>
        <p:spPr>
          <a:xfrm>
            <a:off x="557784" y="3831336"/>
            <a:ext cx="11045952" cy="914400"/>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9808" y="3986784"/>
            <a:ext cx="2267712" cy="585216"/>
          </a:xfrm>
          <a:prstGeom prst="rect">
            <a:avLst/>
          </a:prstGeom>
          <a:noFill/>
        </p:spPr>
        <p:txBody>
          <a:bodyPr wrap="square" lIns="25400" rIns="25400" tIns="25400" bIns="25400">
            <a:spAutoFit/>
          </a:bodyPr>
          <a:lstStyle/>
          <a:p>
            <a:pPr>
              <a:lnSpc>
                <a:spcPct val="108000"/>
              </a:lnSpc>
              <a:spcAft>
                <a:spcPts val="500"/>
              </a:spcAft>
              <a:defRPr sz="2000" b="1">
                <a:solidFill>
                  <a:srgbClr val="007F86"/>
                </a:solidFill>
                <a:latin typeface="Arial"/>
              </a:defRPr>
            </a:pPr>
            <a:r>
              <a:t>Finalized results</a:t>
            </a:r>
          </a:p>
        </p:txBody>
      </p:sp>
      <p:sp>
        <p:nvSpPr>
          <p:cNvPr id="17" name="TextBox 16"/>
          <p:cNvSpPr txBox="1"/>
          <p:nvPr/>
        </p:nvSpPr>
        <p:spPr>
          <a:xfrm>
            <a:off x="3136392" y="3968496"/>
            <a:ext cx="8211312" cy="694944"/>
          </a:xfrm>
          <a:prstGeom prst="rect">
            <a:avLst/>
          </a:prstGeom>
          <a:noFill/>
        </p:spPr>
        <p:txBody>
          <a:bodyPr wrap="square" lIns="25400" rIns="25400" tIns="25400" bIns="25400">
            <a:spAutoFit/>
          </a:bodyPr>
          <a:lstStyle/>
          <a:p>
            <a:pPr>
              <a:lnSpc>
                <a:spcPct val="108000"/>
              </a:lnSpc>
              <a:spcAft>
                <a:spcPts val="500"/>
              </a:spcAft>
              <a:defRPr sz="1900" b="0">
                <a:solidFill>
                  <a:srgbClr val="17354B"/>
                </a:solidFill>
                <a:latin typeface="Arial"/>
              </a:defRPr>
            </a:pPr>
            <a:r>
              <a:t>Finalized assessment fields stay read-only. Coaching does not revise an official result.</a:t>
            </a:r>
          </a:p>
        </p:txBody>
      </p:sp>
      <p:sp>
        <p:nvSpPr>
          <p:cNvPr id="18" name="Rounded Rectangle 17"/>
          <p:cNvSpPr/>
          <p:nvPr/>
        </p:nvSpPr>
        <p:spPr>
          <a:xfrm>
            <a:off x="557784" y="4846320"/>
            <a:ext cx="11045952" cy="914400"/>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001768"/>
            <a:ext cx="2267712" cy="585216"/>
          </a:xfrm>
          <a:prstGeom prst="rect">
            <a:avLst/>
          </a:prstGeom>
          <a:noFill/>
        </p:spPr>
        <p:txBody>
          <a:bodyPr wrap="square" lIns="25400" rIns="25400" tIns="25400" bIns="25400">
            <a:spAutoFit/>
          </a:bodyPr>
          <a:lstStyle/>
          <a:p>
            <a:pPr>
              <a:lnSpc>
                <a:spcPct val="108000"/>
              </a:lnSpc>
              <a:spcAft>
                <a:spcPts val="500"/>
              </a:spcAft>
              <a:defRPr sz="1700" b="1">
                <a:solidFill>
                  <a:srgbClr val="007F86"/>
                </a:solidFill>
                <a:latin typeface="Arial"/>
              </a:defRPr>
            </a:pPr>
            <a:r>
              <a:t>Local copy removal</a:t>
            </a:r>
          </a:p>
        </p:txBody>
      </p:sp>
      <p:sp>
        <p:nvSpPr>
          <p:cNvPr id="20" name="TextBox 19"/>
          <p:cNvSpPr txBox="1"/>
          <p:nvPr/>
        </p:nvSpPr>
        <p:spPr>
          <a:xfrm>
            <a:off x="3136392" y="4983480"/>
            <a:ext cx="8211312" cy="694944"/>
          </a:xfrm>
          <a:prstGeom prst="rect">
            <a:avLst/>
          </a:prstGeom>
          <a:noFill/>
        </p:spPr>
        <p:txBody>
          <a:bodyPr wrap="square" lIns="25400" rIns="25400" tIns="25400" bIns="25400">
            <a:spAutoFit/>
          </a:bodyPr>
          <a:lstStyle/>
          <a:p>
            <a:pPr>
              <a:lnSpc>
                <a:spcPct val="108000"/>
              </a:lnSpc>
              <a:spcAft>
                <a:spcPts val="500"/>
              </a:spcAft>
              <a:defRPr sz="1900" b="0">
                <a:solidFill>
                  <a:srgbClr val="17354B"/>
                </a:solidFill>
                <a:latin typeface="Arial"/>
              </a:defRPr>
            </a:pPr>
            <a:r>
              <a:t>Removing one browser copy keeps the shared server record. Retention controls are owner-operated.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ONE REPORT PER FINDING</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Turn “it broke” into a fixable report</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08</a:t>
            </a:r>
          </a:p>
        </p:txBody>
      </p:sp>
      <p:sp>
        <p:nvSpPr>
          <p:cNvPr id="9" name="Rounded Rectangle 8"/>
          <p:cNvSpPr/>
          <p:nvPr/>
        </p:nvSpPr>
        <p:spPr>
          <a:xfrm>
            <a:off x="594360" y="1847088"/>
            <a:ext cx="2523744" cy="621792"/>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002536"/>
            <a:ext cx="2286000" cy="356616"/>
          </a:xfrm>
          <a:prstGeom prst="rect">
            <a:avLst/>
          </a:prstGeom>
          <a:noFill/>
        </p:spPr>
        <p:txBody>
          <a:bodyPr wrap="square" lIns="25400" rIns="25400" tIns="25400" bIns="25400">
            <a:spAutoFit/>
          </a:bodyPr>
          <a:lstStyle/>
          <a:p>
            <a:pPr>
              <a:lnSpc>
                <a:spcPct val="108000"/>
              </a:lnSpc>
              <a:spcAft>
                <a:spcPts val="500"/>
              </a:spcAft>
              <a:defRPr sz="1700" b="1">
                <a:solidFill>
                  <a:srgbClr val="FFFFFF"/>
                </a:solidFill>
                <a:latin typeface="Arial"/>
              </a:defRPr>
            </a:pPr>
            <a:r>
              <a:t>TRY</a:t>
            </a:r>
          </a:p>
        </p:txBody>
      </p:sp>
      <p:sp>
        <p:nvSpPr>
          <p:cNvPr id="11" name="Rounded Rectangle 10"/>
          <p:cNvSpPr/>
          <p:nvPr/>
        </p:nvSpPr>
        <p:spPr>
          <a:xfrm>
            <a:off x="3410712" y="1847088"/>
            <a:ext cx="2523744" cy="621792"/>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9584" y="2002536"/>
            <a:ext cx="2286000" cy="356616"/>
          </a:xfrm>
          <a:prstGeom prst="rect">
            <a:avLst/>
          </a:prstGeom>
          <a:noFill/>
        </p:spPr>
        <p:txBody>
          <a:bodyPr wrap="square" lIns="25400" rIns="25400" tIns="25400" bIns="25400">
            <a:spAutoFit/>
          </a:bodyPr>
          <a:lstStyle/>
          <a:p>
            <a:pPr>
              <a:lnSpc>
                <a:spcPct val="108000"/>
              </a:lnSpc>
              <a:spcAft>
                <a:spcPts val="500"/>
              </a:spcAft>
              <a:defRPr sz="1700" b="1">
                <a:solidFill>
                  <a:srgbClr val="FFFFFF"/>
                </a:solidFill>
                <a:latin typeface="Arial"/>
              </a:defRPr>
            </a:pPr>
            <a:r>
              <a:t>CAPTURE</a:t>
            </a:r>
          </a:p>
        </p:txBody>
      </p:sp>
      <p:sp>
        <p:nvSpPr>
          <p:cNvPr id="13" name="Rounded Rectangle 12"/>
          <p:cNvSpPr/>
          <p:nvPr/>
        </p:nvSpPr>
        <p:spPr>
          <a:xfrm>
            <a:off x="6227064" y="1847088"/>
            <a:ext cx="2523744" cy="621792"/>
          </a:xfrm>
          <a:prstGeom prst="roundRect">
            <a:avLst/>
          </a:prstGeom>
          <a:solidFill>
            <a:srgbClr val="E9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5936" y="2002536"/>
            <a:ext cx="2286000" cy="356616"/>
          </a:xfrm>
          <a:prstGeom prst="rect">
            <a:avLst/>
          </a:prstGeom>
          <a:noFill/>
        </p:spPr>
        <p:txBody>
          <a:bodyPr wrap="square" lIns="25400" rIns="25400" tIns="25400" bIns="25400">
            <a:spAutoFit/>
          </a:bodyPr>
          <a:lstStyle/>
          <a:p>
            <a:pPr>
              <a:lnSpc>
                <a:spcPct val="108000"/>
              </a:lnSpc>
              <a:spcAft>
                <a:spcPts val="500"/>
              </a:spcAft>
              <a:defRPr sz="1700" b="1">
                <a:solidFill>
                  <a:srgbClr val="FFFFFF"/>
                </a:solidFill>
                <a:latin typeface="Arial"/>
              </a:defRPr>
            </a:pPr>
            <a:r>
              <a:t>COMPARE</a:t>
            </a:r>
          </a:p>
        </p:txBody>
      </p:sp>
      <p:sp>
        <p:nvSpPr>
          <p:cNvPr id="15" name="Rounded Rectangle 14"/>
          <p:cNvSpPr/>
          <p:nvPr/>
        </p:nvSpPr>
        <p:spPr>
          <a:xfrm>
            <a:off x="9043416" y="1847088"/>
            <a:ext cx="2523744" cy="621792"/>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62288" y="2002536"/>
            <a:ext cx="2286000" cy="356616"/>
          </a:xfrm>
          <a:prstGeom prst="rect">
            <a:avLst/>
          </a:prstGeom>
          <a:noFill/>
        </p:spPr>
        <p:txBody>
          <a:bodyPr wrap="square" lIns="25400" rIns="25400" tIns="25400" bIns="25400">
            <a:spAutoFit/>
          </a:bodyPr>
          <a:lstStyle/>
          <a:p>
            <a:pPr>
              <a:lnSpc>
                <a:spcPct val="108000"/>
              </a:lnSpc>
              <a:spcAft>
                <a:spcPts val="500"/>
              </a:spcAft>
              <a:defRPr sz="1700" b="1">
                <a:solidFill>
                  <a:srgbClr val="FFFFFF"/>
                </a:solidFill>
                <a:latin typeface="Arial"/>
              </a:defRPr>
            </a:pPr>
            <a:r>
              <a:t>RETURN</a:t>
            </a:r>
          </a:p>
        </p:txBody>
      </p:sp>
      <p:sp>
        <p:nvSpPr>
          <p:cNvPr id="17" name="TextBox 16"/>
          <p:cNvSpPr txBox="1"/>
          <p:nvPr/>
        </p:nvSpPr>
        <p:spPr>
          <a:xfrm>
            <a:off x="704088" y="2715768"/>
            <a:ext cx="10844784" cy="914400"/>
          </a:xfrm>
          <a:prstGeom prst="rect">
            <a:avLst/>
          </a:prstGeom>
          <a:noFill/>
        </p:spPr>
        <p:txBody>
          <a:bodyPr wrap="square" lIns="25400" rIns="25400" tIns="25400" bIns="25400">
            <a:spAutoFit/>
          </a:bodyPr>
          <a:lstStyle/>
          <a:p>
            <a:pPr>
              <a:lnSpc>
                <a:spcPct val="108000"/>
              </a:lnSpc>
              <a:spcAft>
                <a:spcPts val="500"/>
              </a:spcAft>
              <a:defRPr sz="2500" b="1">
                <a:solidFill>
                  <a:srgbClr val="102A43"/>
                </a:solidFill>
                <a:latin typeface="Arial"/>
              </a:defRPr>
            </a:pPr>
            <a:r>
              <a:t>Record the device, version, role/site, TEST case, exact steps, expected versus actual result, and local/cloud state.</a:t>
            </a:r>
          </a:p>
        </p:txBody>
      </p:sp>
      <p:sp>
        <p:nvSpPr>
          <p:cNvPr id="18" name="Rounded Rectangle 17"/>
          <p:cNvSpPr/>
          <p:nvPr/>
        </p:nvSpPr>
        <p:spPr>
          <a:xfrm>
            <a:off x="585216" y="3858768"/>
            <a:ext cx="11009376" cy="1298448"/>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 y="4005072"/>
            <a:ext cx="10643616" cy="274320"/>
          </a:xfrm>
          <a:prstGeom prst="rect">
            <a:avLst/>
          </a:prstGeom>
          <a:noFill/>
        </p:spPr>
        <p:txBody>
          <a:bodyPr wrap="square" lIns="25400" rIns="25400" tIns="25400" bIns="25400">
            <a:spAutoFit/>
          </a:bodyPr>
          <a:lstStyle/>
          <a:p>
            <a:pPr>
              <a:lnSpc>
                <a:spcPct val="108000"/>
              </a:lnSpc>
              <a:spcAft>
                <a:spcPts val="500"/>
              </a:spcAft>
              <a:defRPr sz="1200" b="1">
                <a:solidFill>
                  <a:srgbClr val="007F86"/>
                </a:solidFill>
                <a:latin typeface="Arial"/>
              </a:defRPr>
            </a:pPr>
            <a:r>
              <a:t>ILLUSTRATIVE REPORT — NOT AN OBSERVED DEFECT</a:t>
            </a:r>
          </a:p>
        </p:txBody>
      </p:sp>
      <p:sp>
        <p:nvSpPr>
          <p:cNvPr id="20" name="TextBox 19"/>
          <p:cNvSpPr txBox="1"/>
          <p:nvPr/>
        </p:nvSpPr>
        <p:spPr>
          <a:xfrm>
            <a:off x="768096" y="4416552"/>
            <a:ext cx="10643616" cy="557784"/>
          </a:xfrm>
          <a:prstGeom prst="rect">
            <a:avLst/>
          </a:prstGeom>
          <a:noFill/>
        </p:spPr>
        <p:txBody>
          <a:bodyPr wrap="square" lIns="25400" rIns="25400" tIns="25400" bIns="25400">
            <a:spAutoFit/>
          </a:bodyPr>
          <a:lstStyle/>
          <a:p>
            <a:pPr>
              <a:lnSpc>
                <a:spcPct val="108000"/>
              </a:lnSpc>
              <a:spcAft>
                <a:spcPts val="500"/>
              </a:spcAft>
              <a:defRPr sz="2100" b="0">
                <a:solidFill>
                  <a:srgbClr val="17354B"/>
                </a:solidFill>
                <a:latin typeface="Arial"/>
              </a:defRPr>
            </a:pPr>
            <a:r>
              <a:t>“After rotation, STOP did not respond. Timer remained active. Reproduced 2/3 tries on [device/browser].”</a:t>
            </a:r>
          </a:p>
        </p:txBody>
      </p:sp>
      <p:sp>
        <p:nvSpPr>
          <p:cNvPr id="21" name="Rounded Rectangle 20"/>
          <p:cNvSpPr/>
          <p:nvPr/>
        </p:nvSpPr>
        <p:spPr>
          <a:xfrm>
            <a:off x="521207" y="5742432"/>
            <a:ext cx="11119104" cy="49377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806440"/>
            <a:ext cx="10744200" cy="374904"/>
          </a:xfrm>
          <a:prstGeom prst="rect">
            <a:avLst/>
          </a:prstGeom>
          <a:noFill/>
        </p:spPr>
        <p:txBody>
          <a:bodyPr wrap="square" lIns="25400" rIns="25400" tIns="25400" bIns="25400">
            <a:spAutoFit/>
          </a:bodyPr>
          <a:lstStyle/>
          <a:p>
            <a:pPr>
              <a:lnSpc>
                <a:spcPct val="108000"/>
              </a:lnSpc>
              <a:spcAft>
                <a:spcPts val="500"/>
              </a:spcAft>
              <a:defRPr sz="1800" b="1">
                <a:solidFill>
                  <a:srgbClr val="FFFFFF"/>
                </a:solidFill>
                <a:latin typeface="Arial"/>
              </a:defRPr>
            </a:pPr>
            <a:r>
              <a:t>Return TEST-only evidence to the site PM. Include one thing worth keeping.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TRIAGE WITHOUT LOSING THE USEFUL EVIDENCE</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Pause the affected lane when evidence is at risk</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09</a:t>
            </a:r>
          </a:p>
        </p:txBody>
      </p:sp>
      <p:sp>
        <p:nvSpPr>
          <p:cNvPr id="9" name="Rounded Rectangle 8"/>
          <p:cNvSpPr/>
          <p:nvPr/>
        </p:nvSpPr>
        <p:spPr>
          <a:xfrm>
            <a:off x="521207" y="1847088"/>
            <a:ext cx="3602736" cy="3566160"/>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048256"/>
            <a:ext cx="59436" cy="3163824"/>
          </a:xfrm>
          <a:prstGeom prst="rect">
            <a:avLst/>
          </a:prstGeom>
          <a:solidFill>
            <a:srgbClr val="B6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048256"/>
            <a:ext cx="3008376" cy="621792"/>
          </a:xfrm>
          <a:prstGeom prst="rect">
            <a:avLst/>
          </a:prstGeom>
          <a:noFill/>
        </p:spPr>
        <p:txBody>
          <a:bodyPr wrap="square" lIns="25400" rIns="25400" tIns="25400" bIns="25400">
            <a:spAutoFit/>
          </a:bodyPr>
          <a:lstStyle/>
          <a:p>
            <a:pPr>
              <a:lnSpc>
                <a:spcPct val="108000"/>
              </a:lnSpc>
              <a:spcAft>
                <a:spcPts val="500"/>
              </a:spcAft>
              <a:defRPr sz="2200" b="1">
                <a:solidFill>
                  <a:srgbClr val="102A43"/>
                </a:solidFill>
                <a:latin typeface="Arial"/>
              </a:defRPr>
            </a:pPr>
            <a:r>
              <a:t>PAUSE + ESCALATE</a:t>
            </a:r>
          </a:p>
        </p:txBody>
      </p:sp>
      <p:sp>
        <p:nvSpPr>
          <p:cNvPr id="12" name="TextBox 11"/>
          <p:cNvSpPr txBox="1"/>
          <p:nvPr/>
        </p:nvSpPr>
        <p:spPr>
          <a:xfrm>
            <a:off x="877824" y="2734056"/>
            <a:ext cx="3008376" cy="2542032"/>
          </a:xfrm>
          <a:prstGeom prst="rect">
            <a:avLst/>
          </a:prstGeom>
          <a:noFill/>
        </p:spPr>
        <p:txBody>
          <a:bodyPr wrap="square" lIns="25400" rIns="25400" tIns="25400" bIns="25400">
            <a:spAutoFit/>
          </a:bodyPr>
          <a:lstStyle/>
          <a:p>
            <a:pPr>
              <a:lnSpc>
                <a:spcPct val="108000"/>
              </a:lnSpc>
              <a:spcAft>
                <a:spcPts val="500"/>
              </a:spcAft>
              <a:defRPr sz="2000" b="0">
                <a:solidFill>
                  <a:srgbClr val="516677"/>
                </a:solidFill>
                <a:latin typeface="Arial"/>
              </a:defRPr>
            </a:pPr>
            <a:r>
              <a:t>Unexpected access.</a:t>
            </a:r>
          </a:p>
          <a:p>
            <a:pPr>
              <a:lnSpc>
                <a:spcPct val="108000"/>
              </a:lnSpc>
              <a:spcAft>
                <a:spcPts val="500"/>
              </a:spcAft>
              <a:defRPr sz="2000" b="0">
                <a:solidFill>
                  <a:srgbClr val="516677"/>
                </a:solidFill>
                <a:latin typeface="Arial"/>
              </a:defRPr>
            </a:pPr>
            <a:r>
              <a:t>Wrong or lost grading.</a:t>
            </a:r>
          </a:p>
          <a:p>
            <a:pPr>
              <a:lnSpc>
                <a:spcPct val="108000"/>
              </a:lnSpc>
              <a:spcAft>
                <a:spcPts val="500"/>
              </a:spcAft>
              <a:defRPr sz="2000" b="0">
                <a:solidFill>
                  <a:srgbClr val="516677"/>
                </a:solidFill>
                <a:latin typeface="Arial"/>
              </a:defRPr>
            </a:pPr>
            <a:r>
              <a:t>Silent overwrites.</a:t>
            </a:r>
          </a:p>
          <a:p>
            <a:pPr>
              <a:lnSpc>
                <a:spcPct val="108000"/>
              </a:lnSpc>
              <a:spcAft>
                <a:spcPts val="500"/>
              </a:spcAft>
              <a:defRPr sz="2000" b="0">
                <a:solidFill>
                  <a:srgbClr val="516677"/>
                </a:solidFill>
                <a:latin typeface="Arial"/>
              </a:defRPr>
            </a:pPr>
            <a:r>
              <a:t>False save/final score.</a:t>
            </a:r>
          </a:p>
          <a:p>
            <a:pPr>
              <a:lnSpc>
                <a:spcPct val="108000"/>
              </a:lnSpc>
              <a:spcAft>
                <a:spcPts val="500"/>
              </a:spcAft>
              <a:defRPr sz="2000" b="0">
                <a:solidFill>
                  <a:srgbClr val="516677"/>
                </a:solidFill>
                <a:latin typeface="Arial"/>
              </a:defRPr>
            </a:pPr>
            <a:r>
              <a:t>Live records affected.</a:t>
            </a:r>
          </a:p>
        </p:txBody>
      </p:sp>
      <p:sp>
        <p:nvSpPr>
          <p:cNvPr id="13" name="Rounded Rectangle 12"/>
          <p:cNvSpPr/>
          <p:nvPr/>
        </p:nvSpPr>
        <p:spPr>
          <a:xfrm>
            <a:off x="4288536" y="1847088"/>
            <a:ext cx="3602736" cy="3566160"/>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53128" y="2048256"/>
            <a:ext cx="59436" cy="3163824"/>
          </a:xfrm>
          <a:prstGeom prst="rect">
            <a:avLst/>
          </a:prstGeom>
          <a:solidFill>
            <a:srgbClr val="E9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2048256"/>
            <a:ext cx="3008376" cy="621792"/>
          </a:xfrm>
          <a:prstGeom prst="rect">
            <a:avLst/>
          </a:prstGeom>
          <a:noFill/>
        </p:spPr>
        <p:txBody>
          <a:bodyPr wrap="square" lIns="25400" rIns="25400" tIns="25400" bIns="25400">
            <a:spAutoFit/>
          </a:bodyPr>
          <a:lstStyle/>
          <a:p>
            <a:pPr>
              <a:lnSpc>
                <a:spcPct val="108000"/>
              </a:lnSpc>
              <a:spcAft>
                <a:spcPts val="500"/>
              </a:spcAft>
              <a:defRPr sz="2200" b="1">
                <a:solidFill>
                  <a:srgbClr val="102A43"/>
                </a:solidFill>
                <a:latin typeface="Arial"/>
              </a:defRPr>
            </a:pPr>
            <a:r>
              <a:t>CAPTURE + TRIAGE</a:t>
            </a:r>
          </a:p>
        </p:txBody>
      </p:sp>
      <p:sp>
        <p:nvSpPr>
          <p:cNvPr id="16" name="TextBox 15"/>
          <p:cNvSpPr txBox="1"/>
          <p:nvPr/>
        </p:nvSpPr>
        <p:spPr>
          <a:xfrm>
            <a:off x="4645152" y="2734056"/>
            <a:ext cx="3008376" cy="2542032"/>
          </a:xfrm>
          <a:prstGeom prst="rect">
            <a:avLst/>
          </a:prstGeom>
          <a:noFill/>
        </p:spPr>
        <p:txBody>
          <a:bodyPr wrap="square" lIns="25400" rIns="25400" tIns="25400" bIns="25400">
            <a:spAutoFit/>
          </a:bodyPr>
          <a:lstStyle/>
          <a:p>
            <a:pPr>
              <a:lnSpc>
                <a:spcPct val="108000"/>
              </a:lnSpc>
              <a:spcAft>
                <a:spcPts val="500"/>
              </a:spcAft>
              <a:defRPr sz="2100" b="0">
                <a:solidFill>
                  <a:srgbClr val="516677"/>
                </a:solidFill>
                <a:latin typeface="Arial"/>
              </a:defRPr>
            </a:pPr>
            <a:r>
              <a:t>Blocked workflow.</a:t>
            </a:r>
          </a:p>
          <a:p>
            <a:pPr>
              <a:lnSpc>
                <a:spcPct val="108000"/>
              </a:lnSpc>
              <a:spcAft>
                <a:spcPts val="500"/>
              </a:spcAft>
              <a:defRPr sz="2100" b="0">
                <a:solidFill>
                  <a:srgbClr val="516677"/>
                </a:solidFill>
                <a:latin typeface="Arial"/>
              </a:defRPr>
            </a:pPr>
            <a:r>
              <a:t>Unclear recovery.</a:t>
            </a:r>
          </a:p>
          <a:p>
            <a:pPr>
              <a:lnSpc>
                <a:spcPct val="108000"/>
              </a:lnSpc>
              <a:spcAft>
                <a:spcPts val="500"/>
              </a:spcAft>
              <a:defRPr sz="2100" b="0">
                <a:solidFill>
                  <a:srgbClr val="516677"/>
                </a:solidFill>
                <a:latin typeface="Arial"/>
              </a:defRPr>
            </a:pPr>
            <a:r>
              <a:t>Unreachable control.</a:t>
            </a:r>
          </a:p>
          <a:p>
            <a:pPr>
              <a:lnSpc>
                <a:spcPct val="108000"/>
              </a:lnSpc>
              <a:spcAft>
                <a:spcPts val="500"/>
              </a:spcAft>
              <a:defRPr sz="2100" b="0">
                <a:solidFill>
                  <a:srgbClr val="516677"/>
                </a:solidFill>
                <a:latin typeface="Arial"/>
              </a:defRPr>
            </a:pPr>
            <a:r>
              <a:t>Misleading status.</a:t>
            </a:r>
          </a:p>
          <a:p>
            <a:pPr>
              <a:lnSpc>
                <a:spcPct val="108000"/>
              </a:lnSpc>
              <a:spcAft>
                <a:spcPts val="500"/>
              </a:spcAft>
              <a:defRPr sz="2100" b="0">
                <a:solidFill>
                  <a:srgbClr val="516677"/>
                </a:solidFill>
                <a:latin typeface="Arial"/>
              </a:defRPr>
            </a:pPr>
            <a:r>
              <a:t>Repeated workaround.</a:t>
            </a:r>
          </a:p>
        </p:txBody>
      </p:sp>
      <p:sp>
        <p:nvSpPr>
          <p:cNvPr id="17" name="Rounded Rectangle 16"/>
          <p:cNvSpPr/>
          <p:nvPr/>
        </p:nvSpPr>
        <p:spPr>
          <a:xfrm>
            <a:off x="8055864" y="1847088"/>
            <a:ext cx="3602736" cy="3566160"/>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0456" y="2048256"/>
            <a:ext cx="59436" cy="3163824"/>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2048256"/>
            <a:ext cx="3008376" cy="621792"/>
          </a:xfrm>
          <a:prstGeom prst="rect">
            <a:avLst/>
          </a:prstGeom>
          <a:noFill/>
        </p:spPr>
        <p:txBody>
          <a:bodyPr wrap="square" lIns="25400" rIns="25400" tIns="25400" bIns="25400">
            <a:spAutoFit/>
          </a:bodyPr>
          <a:lstStyle/>
          <a:p>
            <a:pPr>
              <a:lnSpc>
                <a:spcPct val="108000"/>
              </a:lnSpc>
              <a:spcAft>
                <a:spcPts val="500"/>
              </a:spcAft>
              <a:defRPr sz="2200" b="1">
                <a:solidFill>
                  <a:srgbClr val="102A43"/>
                </a:solidFill>
                <a:latin typeface="Arial"/>
              </a:defRPr>
            </a:pPr>
            <a:r>
              <a:t>RECORD + IMPROVE</a:t>
            </a:r>
          </a:p>
        </p:txBody>
      </p:sp>
      <p:sp>
        <p:nvSpPr>
          <p:cNvPr id="20" name="TextBox 19"/>
          <p:cNvSpPr txBox="1"/>
          <p:nvPr/>
        </p:nvSpPr>
        <p:spPr>
          <a:xfrm>
            <a:off x="8412480" y="2734056"/>
            <a:ext cx="3008376" cy="2542032"/>
          </a:xfrm>
          <a:prstGeom prst="rect">
            <a:avLst/>
          </a:prstGeom>
          <a:noFill/>
        </p:spPr>
        <p:txBody>
          <a:bodyPr wrap="square" lIns="25400" rIns="25400" tIns="25400" bIns="25400">
            <a:spAutoFit/>
          </a:bodyPr>
          <a:lstStyle/>
          <a:p>
            <a:pPr>
              <a:lnSpc>
                <a:spcPct val="108000"/>
              </a:lnSpc>
              <a:spcAft>
                <a:spcPts val="500"/>
              </a:spcAft>
              <a:defRPr sz="2100" b="0">
                <a:solidFill>
                  <a:srgbClr val="516677"/>
                </a:solidFill>
                <a:latin typeface="Arial"/>
              </a:defRPr>
            </a:pPr>
            <a:r>
              <a:t>Friction and preferences.</a:t>
            </a:r>
          </a:p>
          <a:p>
            <a:pPr>
              <a:lnSpc>
                <a:spcPct val="108000"/>
              </a:lnSpc>
              <a:spcAft>
                <a:spcPts val="500"/>
              </a:spcAft>
              <a:defRPr sz="2100" b="0">
                <a:solidFill>
                  <a:srgbClr val="516677"/>
                </a:solidFill>
                <a:latin typeface="Arial"/>
              </a:defRPr>
            </a:pPr>
            <a:r>
              <a:t>Missing capability.</a:t>
            </a:r>
          </a:p>
          <a:p>
            <a:pPr>
              <a:lnSpc>
                <a:spcPct val="108000"/>
              </a:lnSpc>
              <a:spcAft>
                <a:spcPts val="500"/>
              </a:spcAft>
              <a:defRPr sz="2100" b="0">
                <a:solidFill>
                  <a:srgbClr val="516677"/>
                </a:solidFill>
                <a:latin typeface="Arial"/>
              </a:defRPr>
            </a:pPr>
            <a:r>
              <a:t>Useful display choice.</a:t>
            </a:r>
          </a:p>
          <a:p>
            <a:pPr>
              <a:lnSpc>
                <a:spcPct val="108000"/>
              </a:lnSpc>
              <a:spcAft>
                <a:spcPts val="500"/>
              </a:spcAft>
              <a:defRPr sz="2100" b="0">
                <a:solidFill>
                  <a:srgbClr val="516677"/>
                </a:solidFill>
                <a:latin typeface="Arial"/>
              </a:defRPr>
            </a:pPr>
            <a:r>
              <a:t>Good recovery.</a:t>
            </a:r>
          </a:p>
          <a:p>
            <a:pPr>
              <a:lnSpc>
                <a:spcPct val="108000"/>
              </a:lnSpc>
              <a:spcAft>
                <a:spcPts val="500"/>
              </a:spcAft>
              <a:defRPr sz="2100" b="0">
                <a:solidFill>
                  <a:srgbClr val="516677"/>
                </a:solidFill>
                <a:latin typeface="Arial"/>
              </a:defRPr>
            </a:pPr>
            <a:r>
              <a:t>What should stay.</a:t>
            </a:r>
          </a:p>
        </p:txBody>
      </p:sp>
      <p:sp>
        <p:nvSpPr>
          <p:cNvPr id="21" name="Rounded Rectangle 20"/>
          <p:cNvSpPr/>
          <p:nvPr/>
        </p:nvSpPr>
        <p:spPr>
          <a:xfrm>
            <a:off x="521207" y="5760720"/>
            <a:ext cx="11119104" cy="49377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5824728"/>
            <a:ext cx="10744200" cy="374904"/>
          </a:xfrm>
          <a:prstGeom prst="rect">
            <a:avLst/>
          </a:prstGeom>
          <a:noFill/>
        </p:spPr>
        <p:txBody>
          <a:bodyPr wrap="square" lIns="25400" rIns="25400" tIns="25400" bIns="25400">
            <a:spAutoFit/>
          </a:bodyPr>
          <a:lstStyle/>
          <a:p>
            <a:pPr>
              <a:lnSpc>
                <a:spcPct val="108000"/>
              </a:lnSpc>
              <a:spcAft>
                <a:spcPts val="500"/>
              </a:spcAft>
              <a:defRPr sz="1800" b="1">
                <a:solidFill>
                  <a:srgbClr val="FFFFFF"/>
                </a:solidFill>
                <a:latin typeface="Arial"/>
              </a:defRPr>
            </a:pPr>
            <a:r>
              <a:t>Keep the device state. Site PM → pilot owner → Enterprise/NUC support.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PROPOSED LOCAL EXPANSION GATES</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Decide on evidence, then retest the fixes</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10</a:t>
            </a:r>
          </a:p>
        </p:txBody>
      </p:sp>
      <p:sp>
        <p:nvSpPr>
          <p:cNvPr id="9" name="TextBox 8"/>
          <p:cNvSpPr txBox="1"/>
          <p:nvPr/>
        </p:nvSpPr>
        <p:spPr>
          <a:xfrm>
            <a:off x="676656" y="1810512"/>
            <a:ext cx="10881360" cy="338328"/>
          </a:xfrm>
          <a:prstGeom prst="rect">
            <a:avLst/>
          </a:prstGeom>
          <a:noFill/>
        </p:spPr>
        <p:txBody>
          <a:bodyPr wrap="square" lIns="25400" rIns="25400" tIns="25400" bIns="25400">
            <a:spAutoFit/>
          </a:bodyPr>
          <a:lstStyle/>
          <a:p>
            <a:pPr>
              <a:lnSpc>
                <a:spcPct val="108000"/>
              </a:lnSpc>
              <a:spcAft>
                <a:spcPts val="500"/>
              </a:spcAft>
              <a:defRPr sz="1700" b="1">
                <a:solidFill>
                  <a:srgbClr val="007F86"/>
                </a:solidFill>
                <a:latin typeface="Arial"/>
              </a:defRPr>
            </a:pPr>
            <a:r>
              <a:t>No open critical blocker</a:t>
            </a:r>
          </a:p>
        </p:txBody>
      </p:sp>
      <p:sp>
        <p:nvSpPr>
          <p:cNvPr id="10" name="TextBox 9"/>
          <p:cNvSpPr txBox="1"/>
          <p:nvPr/>
        </p:nvSpPr>
        <p:spPr>
          <a:xfrm>
            <a:off x="676656" y="2194560"/>
            <a:ext cx="10881360" cy="448056"/>
          </a:xfrm>
          <a:prstGeom prst="rect">
            <a:avLst/>
          </a:prstGeom>
          <a:noFill/>
        </p:spPr>
        <p:txBody>
          <a:bodyPr wrap="square" lIns="25400" rIns="25400" tIns="25400" bIns="25400">
            <a:spAutoFit/>
          </a:bodyPr>
          <a:lstStyle/>
          <a:p>
            <a:pPr>
              <a:lnSpc>
                <a:spcPct val="108000"/>
              </a:lnSpc>
              <a:spcAft>
                <a:spcPts val="500"/>
              </a:spcAft>
              <a:defRPr sz="2000" b="0">
                <a:solidFill>
                  <a:srgbClr val="516677"/>
                </a:solidFill>
                <a:latin typeface="Arial"/>
              </a:defRPr>
            </a:pPr>
            <a:r>
              <a:t>Access, evidence integrity and stored final results behave correctly.</a:t>
            </a:r>
          </a:p>
        </p:txBody>
      </p:sp>
      <p:sp>
        <p:nvSpPr>
          <p:cNvPr id="11" name="TextBox 10"/>
          <p:cNvSpPr txBox="1"/>
          <p:nvPr/>
        </p:nvSpPr>
        <p:spPr>
          <a:xfrm>
            <a:off x="676656" y="2743200"/>
            <a:ext cx="10881360" cy="338328"/>
          </a:xfrm>
          <a:prstGeom prst="rect">
            <a:avLst/>
          </a:prstGeom>
          <a:noFill/>
        </p:spPr>
        <p:txBody>
          <a:bodyPr wrap="square" lIns="25400" rIns="25400" tIns="25400" bIns="25400">
            <a:spAutoFit/>
          </a:bodyPr>
          <a:lstStyle/>
          <a:p>
            <a:pPr>
              <a:lnSpc>
                <a:spcPct val="108000"/>
              </a:lnSpc>
              <a:spcAft>
                <a:spcPts val="500"/>
              </a:spcAft>
              <a:defRPr sz="1700" b="1">
                <a:solidFill>
                  <a:srgbClr val="007F86"/>
                </a:solidFill>
                <a:latin typeface="Arial"/>
              </a:defRPr>
            </a:pPr>
            <a:r>
              <a:t>Known cases reconcile</a:t>
            </a:r>
          </a:p>
        </p:txBody>
      </p:sp>
      <p:sp>
        <p:nvSpPr>
          <p:cNvPr id="12" name="TextBox 11"/>
          <p:cNvSpPr txBox="1"/>
          <p:nvPr/>
        </p:nvSpPr>
        <p:spPr>
          <a:xfrm>
            <a:off x="676656" y="3127248"/>
            <a:ext cx="10881360" cy="448056"/>
          </a:xfrm>
          <a:prstGeom prst="rect">
            <a:avLst/>
          </a:prstGeom>
          <a:noFill/>
        </p:spPr>
        <p:txBody>
          <a:bodyPr wrap="square" lIns="25400" rIns="25400" tIns="25400" bIns="25400">
            <a:spAutoFit/>
          </a:bodyPr>
          <a:lstStyle/>
          <a:p>
            <a:pPr>
              <a:lnSpc>
                <a:spcPct val="108000"/>
              </a:lnSpc>
              <a:spcAft>
                <a:spcPts val="500"/>
              </a:spcAft>
              <a:defRPr sz="2000" b="0">
                <a:solidFill>
                  <a:srgbClr val="516677"/>
                </a:solidFill>
                <a:latin typeface="Arial"/>
              </a:defRPr>
            </a:pPr>
            <a:r>
              <a:t>Two devices, exports and scoped TEST reports agree on the selected fixtures.</a:t>
            </a:r>
          </a:p>
        </p:txBody>
      </p:sp>
      <p:sp>
        <p:nvSpPr>
          <p:cNvPr id="13" name="TextBox 12"/>
          <p:cNvSpPr txBox="1"/>
          <p:nvPr/>
        </p:nvSpPr>
        <p:spPr>
          <a:xfrm>
            <a:off x="676656" y="3675887"/>
            <a:ext cx="10881360" cy="338328"/>
          </a:xfrm>
          <a:prstGeom prst="rect">
            <a:avLst/>
          </a:prstGeom>
          <a:noFill/>
        </p:spPr>
        <p:txBody>
          <a:bodyPr wrap="square" lIns="25400" rIns="25400" tIns="25400" bIns="25400">
            <a:spAutoFit/>
          </a:bodyPr>
          <a:lstStyle/>
          <a:p>
            <a:pPr>
              <a:lnSpc>
                <a:spcPct val="108000"/>
              </a:lnSpc>
              <a:spcAft>
                <a:spcPts val="500"/>
              </a:spcAft>
              <a:defRPr sz="1700" b="1">
                <a:solidFill>
                  <a:srgbClr val="007F86"/>
                </a:solidFill>
                <a:latin typeface="Arial"/>
              </a:defRPr>
            </a:pPr>
            <a:r>
              <a:t>Recovery is demonstrated</a:t>
            </a:r>
          </a:p>
        </p:txBody>
      </p:sp>
      <p:sp>
        <p:nvSpPr>
          <p:cNvPr id="14" name="TextBox 13"/>
          <p:cNvSpPr txBox="1"/>
          <p:nvPr/>
        </p:nvSpPr>
        <p:spPr>
          <a:xfrm>
            <a:off x="676656" y="4059935"/>
            <a:ext cx="10881360" cy="448056"/>
          </a:xfrm>
          <a:prstGeom prst="rect">
            <a:avLst/>
          </a:prstGeom>
          <a:noFill/>
        </p:spPr>
        <p:txBody>
          <a:bodyPr wrap="square" lIns="25400" rIns="25400" tIns="25400" bIns="25400">
            <a:spAutoFit/>
          </a:bodyPr>
          <a:lstStyle/>
          <a:p>
            <a:pPr>
              <a:lnSpc>
                <a:spcPct val="108000"/>
              </a:lnSpc>
              <a:spcAft>
                <a:spcPts val="500"/>
              </a:spcAft>
              <a:defRPr sz="2000" b="0">
                <a:solidFill>
                  <a:srgbClr val="516677"/>
                </a:solidFill>
                <a:latin typeface="Arial"/>
              </a:defRPr>
            </a:pPr>
            <a:r>
              <a:t>Real account recovery, outage/reconnect and timer interruption recovery work.</a:t>
            </a:r>
          </a:p>
        </p:txBody>
      </p:sp>
      <p:sp>
        <p:nvSpPr>
          <p:cNvPr id="15" name="TextBox 14"/>
          <p:cNvSpPr txBox="1"/>
          <p:nvPr/>
        </p:nvSpPr>
        <p:spPr>
          <a:xfrm>
            <a:off x="676656" y="4608576"/>
            <a:ext cx="10881360" cy="338328"/>
          </a:xfrm>
          <a:prstGeom prst="rect">
            <a:avLst/>
          </a:prstGeom>
          <a:noFill/>
        </p:spPr>
        <p:txBody>
          <a:bodyPr wrap="square" lIns="25400" rIns="25400" tIns="25400" bIns="25400">
            <a:spAutoFit/>
          </a:bodyPr>
          <a:lstStyle/>
          <a:p>
            <a:pPr>
              <a:lnSpc>
                <a:spcPct val="108000"/>
              </a:lnSpc>
              <a:spcAft>
                <a:spcPts val="500"/>
              </a:spcAft>
              <a:defRPr sz="1700" b="1">
                <a:solidFill>
                  <a:srgbClr val="007F86"/>
                </a:solidFill>
                <a:latin typeface="Arial"/>
              </a:defRPr>
            </a:pPr>
            <a:r>
              <a:t>Instructors can work</a:t>
            </a:r>
          </a:p>
        </p:txBody>
      </p:sp>
      <p:sp>
        <p:nvSpPr>
          <p:cNvPr id="16" name="TextBox 15"/>
          <p:cNvSpPr txBox="1"/>
          <p:nvPr/>
        </p:nvSpPr>
        <p:spPr>
          <a:xfrm>
            <a:off x="676656" y="4992624"/>
            <a:ext cx="10881360" cy="448056"/>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Report independent/helped/blocked counts, observation burden and concrete friction.</a:t>
            </a:r>
          </a:p>
        </p:txBody>
      </p:sp>
      <p:sp>
        <p:nvSpPr>
          <p:cNvPr id="17" name="Rounded Rectangle 16"/>
          <p:cNvSpPr/>
          <p:nvPr/>
        </p:nvSpPr>
        <p:spPr>
          <a:xfrm>
            <a:off x="521207" y="5760720"/>
            <a:ext cx="11119104" cy="49377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5824728"/>
            <a:ext cx="10744200" cy="374904"/>
          </a:xfrm>
          <a:prstGeom prst="rect">
            <a:avLst/>
          </a:prstGeom>
          <a:noFill/>
        </p:spPr>
        <p:txBody>
          <a:bodyPr wrap="square" lIns="25400" rIns="25400" tIns="25400" bIns="25400">
            <a:spAutoFit/>
          </a:bodyPr>
          <a:lstStyle/>
          <a:p>
            <a:pPr>
              <a:lnSpc>
                <a:spcPct val="108000"/>
              </a:lnSpc>
              <a:spcAft>
                <a:spcPts val="500"/>
              </a:spcAft>
              <a:defRPr sz="1800" b="1">
                <a:solidFill>
                  <a:srgbClr val="FFFFFF"/>
                </a:solidFill>
                <a:latin typeface="Arial"/>
              </a:defRPr>
            </a:pPr>
            <a:r>
              <a:t>Proposed operational gates. Clinical agreement needs SME review of the same cases.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PROPOSED ONE-WEEK PILOT</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A short cycle with protected instructor time</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11</a:t>
            </a:r>
          </a:p>
        </p:txBody>
      </p:sp>
      <p:sp>
        <p:nvSpPr>
          <p:cNvPr id="9" name="TextBox 8"/>
          <p:cNvSpPr txBox="1"/>
          <p:nvPr/>
        </p:nvSpPr>
        <p:spPr>
          <a:xfrm>
            <a:off x="612647" y="1856231"/>
            <a:ext cx="2487168" cy="402336"/>
          </a:xfrm>
          <a:prstGeom prst="rect">
            <a:avLst/>
          </a:prstGeom>
          <a:noFill/>
        </p:spPr>
        <p:txBody>
          <a:bodyPr wrap="square" lIns="25400" rIns="25400" tIns="25400" bIns="25400">
            <a:spAutoFit/>
          </a:bodyPr>
          <a:lstStyle/>
          <a:p>
            <a:pPr>
              <a:lnSpc>
                <a:spcPct val="108000"/>
              </a:lnSpc>
              <a:spcAft>
                <a:spcPts val="500"/>
              </a:spcAft>
              <a:defRPr sz="1900" b="1">
                <a:solidFill>
                  <a:srgbClr val="007F86"/>
                </a:solidFill>
                <a:latin typeface="Arial"/>
              </a:defRPr>
            </a:pPr>
            <a:r>
              <a:t>DAY 0</a:t>
            </a:r>
          </a:p>
        </p:txBody>
      </p:sp>
      <p:sp>
        <p:nvSpPr>
          <p:cNvPr id="10" name="Rounded Rectangle 9"/>
          <p:cNvSpPr/>
          <p:nvPr/>
        </p:nvSpPr>
        <p:spPr>
          <a:xfrm>
            <a:off x="539496" y="2441448"/>
            <a:ext cx="2670048" cy="2926080"/>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04088" y="2642616"/>
            <a:ext cx="59436" cy="2523744"/>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2" y="2642616"/>
            <a:ext cx="2075688" cy="621792"/>
          </a:xfrm>
          <a:prstGeom prst="rect">
            <a:avLst/>
          </a:prstGeom>
          <a:noFill/>
        </p:spPr>
        <p:txBody>
          <a:bodyPr wrap="square" lIns="25400" rIns="25400" tIns="25400" bIns="25400">
            <a:spAutoFit/>
          </a:bodyPr>
          <a:lstStyle/>
          <a:p>
            <a:pPr>
              <a:lnSpc>
                <a:spcPct val="108000"/>
              </a:lnSpc>
              <a:spcAft>
                <a:spcPts val="500"/>
              </a:spcAft>
              <a:defRPr sz="2100" b="1">
                <a:solidFill>
                  <a:srgbClr val="102A43"/>
                </a:solidFill>
                <a:latin typeface="Arial"/>
              </a:defRPr>
            </a:pPr>
            <a:r>
              <a:t>Owner dry run</a:t>
            </a:r>
          </a:p>
        </p:txBody>
      </p:sp>
      <p:sp>
        <p:nvSpPr>
          <p:cNvPr id="13" name="TextBox 12"/>
          <p:cNvSpPr txBox="1"/>
          <p:nvPr/>
        </p:nvSpPr>
        <p:spPr>
          <a:xfrm>
            <a:off x="896112" y="3328415"/>
            <a:ext cx="2075688" cy="1901952"/>
          </a:xfrm>
          <a:prstGeom prst="rect">
            <a:avLst/>
          </a:prstGeom>
          <a:noFill/>
        </p:spPr>
        <p:txBody>
          <a:bodyPr wrap="square" lIns="25400" rIns="25400" tIns="25400" bIns="25400">
            <a:spAutoFit/>
          </a:bodyPr>
          <a:lstStyle/>
          <a:p>
            <a:pPr>
              <a:lnSpc>
                <a:spcPct val="108000"/>
              </a:lnSpc>
              <a:spcAft>
                <a:spcPts val="500"/>
              </a:spcAft>
              <a:defRPr sz="2000" b="0">
                <a:solidFill>
                  <a:srgbClr val="516677"/>
                </a:solidFill>
                <a:latin typeface="Arial"/>
              </a:defRPr>
            </a:pPr>
            <a:r>
              <a:t>Accounts, scopes, known case, support and recovery evidence.</a:t>
            </a:r>
          </a:p>
        </p:txBody>
      </p:sp>
      <p:sp>
        <p:nvSpPr>
          <p:cNvPr id="14" name="TextBox 13"/>
          <p:cNvSpPr txBox="1"/>
          <p:nvPr/>
        </p:nvSpPr>
        <p:spPr>
          <a:xfrm>
            <a:off x="3429000" y="1856231"/>
            <a:ext cx="2487168" cy="402336"/>
          </a:xfrm>
          <a:prstGeom prst="rect">
            <a:avLst/>
          </a:prstGeom>
          <a:noFill/>
        </p:spPr>
        <p:txBody>
          <a:bodyPr wrap="square" lIns="25400" rIns="25400" tIns="25400" bIns="25400">
            <a:spAutoFit/>
          </a:bodyPr>
          <a:lstStyle/>
          <a:p>
            <a:pPr>
              <a:lnSpc>
                <a:spcPct val="108000"/>
              </a:lnSpc>
              <a:spcAft>
                <a:spcPts val="500"/>
              </a:spcAft>
              <a:defRPr sz="1900" b="1">
                <a:solidFill>
                  <a:srgbClr val="007F86"/>
                </a:solidFill>
                <a:latin typeface="Arial"/>
              </a:defRPr>
            </a:pPr>
            <a:r>
              <a:t>DAY 1</a:t>
            </a:r>
          </a:p>
        </p:txBody>
      </p:sp>
      <p:sp>
        <p:nvSpPr>
          <p:cNvPr id="15" name="Rounded Rectangle 14"/>
          <p:cNvSpPr/>
          <p:nvPr/>
        </p:nvSpPr>
        <p:spPr>
          <a:xfrm>
            <a:off x="3355848" y="2441448"/>
            <a:ext cx="2670048" cy="2926080"/>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20440" y="2642616"/>
            <a:ext cx="59436" cy="2523744"/>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12463" y="2642616"/>
            <a:ext cx="2075688" cy="621792"/>
          </a:xfrm>
          <a:prstGeom prst="rect">
            <a:avLst/>
          </a:prstGeom>
          <a:noFill/>
        </p:spPr>
        <p:txBody>
          <a:bodyPr wrap="square" lIns="25400" rIns="25400" tIns="25400" bIns="25400">
            <a:spAutoFit/>
          </a:bodyPr>
          <a:lstStyle/>
          <a:p>
            <a:pPr>
              <a:lnSpc>
                <a:spcPct val="108000"/>
              </a:lnSpc>
              <a:spcAft>
                <a:spcPts val="500"/>
              </a:spcAft>
              <a:defRPr sz="2000" b="1">
                <a:solidFill>
                  <a:srgbClr val="102A43"/>
                </a:solidFill>
                <a:latin typeface="Arial"/>
              </a:defRPr>
            </a:pPr>
            <a:r>
              <a:t>Brief + challenge</a:t>
            </a:r>
          </a:p>
        </p:txBody>
      </p:sp>
      <p:sp>
        <p:nvSpPr>
          <p:cNvPr id="18" name="TextBox 17"/>
          <p:cNvSpPr txBox="1"/>
          <p:nvPr/>
        </p:nvSpPr>
        <p:spPr>
          <a:xfrm>
            <a:off x="3712463" y="3328415"/>
            <a:ext cx="2075688" cy="1901952"/>
          </a:xfrm>
          <a:prstGeom prst="rect">
            <a:avLst/>
          </a:prstGeom>
          <a:noFill/>
        </p:spPr>
        <p:txBody>
          <a:bodyPr wrap="square" lIns="25400" rIns="25400" tIns="25400" bIns="25400">
            <a:spAutoFit/>
          </a:bodyPr>
          <a:lstStyle/>
          <a:p>
            <a:pPr>
              <a:lnSpc>
                <a:spcPct val="108000"/>
              </a:lnSpc>
              <a:spcAft>
                <a:spcPts val="500"/>
              </a:spcAft>
              <a:defRPr sz="1900" b="0">
                <a:solidFill>
                  <a:srgbClr val="516677"/>
                </a:solidFill>
                <a:latin typeface="Arial"/>
              </a:defRPr>
            </a:pPr>
            <a:r>
              <a:t>10-minute brief, 40-minute break-it session, 10-minute debrief.</a:t>
            </a:r>
          </a:p>
        </p:txBody>
      </p:sp>
      <p:sp>
        <p:nvSpPr>
          <p:cNvPr id="19" name="TextBox 18"/>
          <p:cNvSpPr txBox="1"/>
          <p:nvPr/>
        </p:nvSpPr>
        <p:spPr>
          <a:xfrm>
            <a:off x="6245352" y="1856231"/>
            <a:ext cx="2487168" cy="402336"/>
          </a:xfrm>
          <a:prstGeom prst="rect">
            <a:avLst/>
          </a:prstGeom>
          <a:noFill/>
        </p:spPr>
        <p:txBody>
          <a:bodyPr wrap="square" lIns="25400" rIns="25400" tIns="25400" bIns="25400">
            <a:spAutoFit/>
          </a:bodyPr>
          <a:lstStyle/>
          <a:p>
            <a:pPr>
              <a:lnSpc>
                <a:spcPct val="108000"/>
              </a:lnSpc>
              <a:spcAft>
                <a:spcPts val="500"/>
              </a:spcAft>
              <a:defRPr sz="1900" b="1">
                <a:solidFill>
                  <a:srgbClr val="007F86"/>
                </a:solidFill>
                <a:latin typeface="Arial"/>
              </a:defRPr>
            </a:pPr>
            <a:r>
              <a:t>DAYS 2–5</a:t>
            </a:r>
          </a:p>
        </p:txBody>
      </p:sp>
      <p:sp>
        <p:nvSpPr>
          <p:cNvPr id="20" name="Rounded Rectangle 19"/>
          <p:cNvSpPr/>
          <p:nvPr/>
        </p:nvSpPr>
        <p:spPr>
          <a:xfrm>
            <a:off x="6172200" y="2441448"/>
            <a:ext cx="2670048" cy="2926080"/>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36792" y="2642616"/>
            <a:ext cx="59436" cy="2523744"/>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28816" y="2642616"/>
            <a:ext cx="2075688"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Use + report</a:t>
            </a:r>
          </a:p>
        </p:txBody>
      </p:sp>
      <p:sp>
        <p:nvSpPr>
          <p:cNvPr id="23" name="TextBox 22"/>
          <p:cNvSpPr txBox="1"/>
          <p:nvPr/>
        </p:nvSpPr>
        <p:spPr>
          <a:xfrm>
            <a:off x="6528816" y="3328415"/>
            <a:ext cx="2075688" cy="1901952"/>
          </a:xfrm>
          <a:prstGeom prst="rect">
            <a:avLst/>
          </a:prstGeom>
          <a:noFill/>
        </p:spPr>
        <p:txBody>
          <a:bodyPr wrap="square" lIns="25400" rIns="25400" tIns="25400" bIns="25400">
            <a:spAutoFit/>
          </a:bodyPr>
          <a:lstStyle/>
          <a:p>
            <a:pPr>
              <a:lnSpc>
                <a:spcPct val="108000"/>
              </a:lnSpc>
              <a:spcAft>
                <a:spcPts val="500"/>
              </a:spcAft>
              <a:defRPr sz="2000" b="0">
                <a:solidFill>
                  <a:srgbClr val="516677"/>
                </a:solidFill>
                <a:latin typeface="Arial"/>
              </a:defRPr>
            </a:pPr>
            <a:r>
              <a:t>Cover remaining missions; use normal devices; daily PM triage.</a:t>
            </a:r>
          </a:p>
        </p:txBody>
      </p:sp>
      <p:sp>
        <p:nvSpPr>
          <p:cNvPr id="24" name="TextBox 23"/>
          <p:cNvSpPr txBox="1"/>
          <p:nvPr/>
        </p:nvSpPr>
        <p:spPr>
          <a:xfrm>
            <a:off x="9061704" y="1856231"/>
            <a:ext cx="2487168" cy="402336"/>
          </a:xfrm>
          <a:prstGeom prst="rect">
            <a:avLst/>
          </a:prstGeom>
          <a:noFill/>
        </p:spPr>
        <p:txBody>
          <a:bodyPr wrap="square" lIns="25400" rIns="25400" tIns="25400" bIns="25400">
            <a:spAutoFit/>
          </a:bodyPr>
          <a:lstStyle/>
          <a:p>
            <a:pPr>
              <a:lnSpc>
                <a:spcPct val="108000"/>
              </a:lnSpc>
              <a:spcAft>
                <a:spcPts val="500"/>
              </a:spcAft>
              <a:defRPr sz="1900" b="1">
                <a:solidFill>
                  <a:srgbClr val="007F86"/>
                </a:solidFill>
                <a:latin typeface="Arial"/>
              </a:defRPr>
            </a:pPr>
            <a:r>
              <a:t>DAYS 6–7</a:t>
            </a:r>
          </a:p>
        </p:txBody>
      </p:sp>
      <p:sp>
        <p:nvSpPr>
          <p:cNvPr id="25" name="Rounded Rectangle 24"/>
          <p:cNvSpPr/>
          <p:nvPr/>
        </p:nvSpPr>
        <p:spPr>
          <a:xfrm>
            <a:off x="8988552" y="2441448"/>
            <a:ext cx="2670048" cy="2926080"/>
          </a:xfrm>
          <a:prstGeom prst="roundRect">
            <a:avLst/>
          </a:prstGeom>
          <a:solidFill>
            <a:srgbClr val="FFFFFF"/>
          </a:solidFill>
          <a:ln w="10160">
            <a:solidFill>
              <a:srgbClr val="D9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53144" y="2642616"/>
            <a:ext cx="59436" cy="2523744"/>
          </a:xfrm>
          <a:prstGeom prst="rect">
            <a:avLst/>
          </a:prstGeom>
          <a:solidFill>
            <a:srgbClr val="E99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345168" y="2642616"/>
            <a:ext cx="2075688" cy="621792"/>
          </a:xfrm>
          <a:prstGeom prst="rect">
            <a:avLst/>
          </a:prstGeom>
          <a:noFill/>
        </p:spPr>
        <p:txBody>
          <a:bodyPr wrap="square" lIns="25400" rIns="25400" tIns="25400" bIns="25400">
            <a:spAutoFit/>
          </a:bodyPr>
          <a:lstStyle/>
          <a:p>
            <a:pPr>
              <a:lnSpc>
                <a:spcPct val="108000"/>
              </a:lnSpc>
              <a:spcAft>
                <a:spcPts val="500"/>
              </a:spcAft>
              <a:defRPr sz="2300" b="1">
                <a:solidFill>
                  <a:srgbClr val="102A43"/>
                </a:solidFill>
                <a:latin typeface="Arial"/>
              </a:defRPr>
            </a:pPr>
            <a:r>
              <a:t>Fix + retest</a:t>
            </a:r>
          </a:p>
        </p:txBody>
      </p:sp>
      <p:sp>
        <p:nvSpPr>
          <p:cNvPr id="28" name="TextBox 27"/>
          <p:cNvSpPr txBox="1"/>
          <p:nvPr/>
        </p:nvSpPr>
        <p:spPr>
          <a:xfrm>
            <a:off x="9345168" y="3328415"/>
            <a:ext cx="2075688" cy="1901952"/>
          </a:xfrm>
          <a:prstGeom prst="rect">
            <a:avLst/>
          </a:prstGeom>
          <a:noFill/>
        </p:spPr>
        <p:txBody>
          <a:bodyPr wrap="square" lIns="25400" rIns="25400" tIns="25400" bIns="25400">
            <a:spAutoFit/>
          </a:bodyPr>
          <a:lstStyle/>
          <a:p>
            <a:pPr>
              <a:lnSpc>
                <a:spcPct val="108000"/>
              </a:lnSpc>
              <a:spcAft>
                <a:spcPts val="500"/>
              </a:spcAft>
              <a:defRPr sz="2000" b="0">
                <a:solidFill>
                  <a:srgbClr val="516677"/>
                </a:solidFill>
                <a:latin typeface="Arial"/>
              </a:defRPr>
            </a:pPr>
            <a:r>
              <a:t>Retest affected devices and cases; brief hold, extend or expand.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E99A3C"/>
                </a:solidFill>
                <a:latin typeface="Arial"/>
              </a:defRPr>
            </a:pPr>
            <a:r>
              <a:t>AUTHORIZE THE PILOT AND NAME THE OWNERS</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FFFFFF"/>
                </a:solidFill>
                <a:latin typeface="Arial"/>
              </a:defRPr>
            </a:pPr>
            <a:r>
              <a:t>The leadership ask</a:t>
            </a:r>
          </a:p>
        </p:txBody>
      </p:sp>
      <p:sp>
        <p:nvSpPr>
          <p:cNvPr id="6" name="Rectangle 5"/>
          <p:cNvSpPr/>
          <p:nvPr/>
        </p:nvSpPr>
        <p:spPr>
          <a:xfrm>
            <a:off x="521207" y="6391656"/>
            <a:ext cx="11119104" cy="11887"/>
          </a:xfrm>
          <a:prstGeom prst="rect">
            <a:avLst/>
          </a:prstGeom>
          <a:solidFill>
            <a:srgbClr val="3553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B9CBD8"/>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B9CBD8"/>
                </a:solidFill>
                <a:latin typeface="Arial"/>
              </a:defRPr>
            </a:pPr>
            <a:r>
              <a:t>12</a:t>
            </a:r>
          </a:p>
        </p:txBody>
      </p:sp>
      <p:sp>
        <p:nvSpPr>
          <p:cNvPr id="9" name="TextBox 8"/>
          <p:cNvSpPr txBox="1"/>
          <p:nvPr/>
        </p:nvSpPr>
        <p:spPr>
          <a:xfrm>
            <a:off x="658368" y="1837943"/>
            <a:ext cx="10808208" cy="2450592"/>
          </a:xfrm>
          <a:prstGeom prst="rect">
            <a:avLst/>
          </a:prstGeom>
          <a:noFill/>
        </p:spPr>
        <p:txBody>
          <a:bodyPr wrap="square" lIns="25400" rIns="25400" tIns="25400" bIns="25400">
            <a:spAutoFit/>
          </a:bodyPr>
          <a:lstStyle/>
          <a:p>
            <a:pPr>
              <a:lnSpc>
                <a:spcPct val="108000"/>
              </a:lnSpc>
              <a:spcAft>
                <a:spcPts val="500"/>
              </a:spcAft>
              <a:defRPr sz="2800" b="1">
                <a:solidFill>
                  <a:srgbClr val="FFFFFF"/>
                </a:solidFill>
                <a:latin typeface="Arial"/>
              </a:defRPr>
            </a:pPr>
            <a:r>
              <a:t>Approve 2–3 TEST sites and a device mix.</a:t>
            </a:r>
          </a:p>
          <a:p>
            <a:pPr>
              <a:lnSpc>
                <a:spcPct val="108000"/>
              </a:lnSpc>
              <a:spcAft>
                <a:spcPts val="500"/>
              </a:spcAft>
              <a:defRPr sz="2800" b="1">
                <a:solidFill>
                  <a:srgbClr val="FFFFFF"/>
                </a:solidFill>
                <a:latin typeface="Arial"/>
              </a:defRPr>
            </a:pPr>
            <a:r>
              <a:t>Nominate each PM and two instructors.</a:t>
            </a:r>
          </a:p>
          <a:p>
            <a:pPr>
              <a:lnSpc>
                <a:spcPct val="108000"/>
              </a:lnSpc>
              <a:spcAft>
                <a:spcPts val="500"/>
              </a:spcAft>
              <a:defRPr sz="2800" b="1">
                <a:solidFill>
                  <a:srgbClr val="FFFFFF"/>
                </a:solidFill>
                <a:latin typeface="Arial"/>
              </a:defRPr>
            </a:pPr>
            <a:r>
              <a:t>Name the pilot owner, Enterprise support and SME.</a:t>
            </a:r>
          </a:p>
          <a:p>
            <a:pPr>
              <a:lnSpc>
                <a:spcPct val="108000"/>
              </a:lnSpc>
              <a:spcAft>
                <a:spcPts val="500"/>
              </a:spcAft>
              <a:defRPr sz="2800" b="1">
                <a:solidFill>
                  <a:srgbClr val="FFFFFF"/>
                </a:solidFill>
                <a:latin typeface="Arial"/>
              </a:defRPr>
            </a:pPr>
            <a:r>
              <a:t>Protect time to test, report and retest.</a:t>
            </a:r>
          </a:p>
        </p:txBody>
      </p:sp>
      <p:sp>
        <p:nvSpPr>
          <p:cNvPr id="10" name="TextBox 9"/>
          <p:cNvSpPr txBox="1"/>
          <p:nvPr/>
        </p:nvSpPr>
        <p:spPr>
          <a:xfrm>
            <a:off x="685800" y="4617720"/>
            <a:ext cx="10753344" cy="731520"/>
          </a:xfrm>
          <a:prstGeom prst="rect">
            <a:avLst/>
          </a:prstGeom>
          <a:noFill/>
        </p:spPr>
        <p:txBody>
          <a:bodyPr wrap="square" lIns="25400" rIns="25400" tIns="25400" bIns="25400">
            <a:spAutoFit/>
          </a:bodyPr>
          <a:lstStyle/>
          <a:p>
            <a:pPr>
              <a:lnSpc>
                <a:spcPct val="108000"/>
              </a:lnSpc>
              <a:spcAft>
                <a:spcPts val="500"/>
              </a:spcAft>
              <a:defRPr sz="2300" b="0">
                <a:solidFill>
                  <a:srgbClr val="C7D8E4"/>
                </a:solidFill>
                <a:latin typeface="Arial"/>
              </a:defRPr>
            </a:pPr>
            <a:r>
              <a:t>Return: a ranked defect list, instructor recommendations and a scoped go / hold / expand decision.</a:t>
            </a:r>
          </a:p>
        </p:txBody>
      </p:sp>
      <p:sp>
        <p:nvSpPr>
          <p:cNvPr id="11" name="Rounded Rectangle 10"/>
          <p:cNvSpPr/>
          <p:nvPr/>
        </p:nvSpPr>
        <p:spPr>
          <a:xfrm>
            <a:off x="521207" y="5705856"/>
            <a:ext cx="11119104" cy="493776"/>
          </a:xfrm>
          <a:prstGeom prst="round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5769864"/>
            <a:ext cx="10744200" cy="374904"/>
          </a:xfrm>
          <a:prstGeom prst="rect">
            <a:avLst/>
          </a:prstGeom>
          <a:noFill/>
        </p:spPr>
        <p:txBody>
          <a:bodyPr wrap="square" lIns="25400" rIns="25400" tIns="25400" bIns="25400">
            <a:spAutoFit/>
          </a:bodyPr>
          <a:lstStyle/>
          <a:p>
            <a:pPr>
              <a:lnSpc>
                <a:spcPct val="108000"/>
              </a:lnSpc>
              <a:spcAft>
                <a:spcPts val="500"/>
              </a:spcAft>
              <a:defRPr sz="1800" b="1">
                <a:solidFill>
                  <a:srgbClr val="FFFFFF"/>
                </a:solidFill>
                <a:latin typeface="Arial"/>
              </a:defRPr>
            </a:pPr>
            <a:r>
              <a:t>Start small. Try to break it. Bring evidence.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ROLES FOR THE BETA</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Appendix: who does what</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13</a:t>
            </a:r>
          </a:p>
        </p:txBody>
      </p:sp>
      <p:sp>
        <p:nvSpPr>
          <p:cNvPr id="9" name="TextBox 8"/>
          <p:cNvSpPr txBox="1"/>
          <p:nvPr/>
        </p:nvSpPr>
        <p:spPr>
          <a:xfrm>
            <a:off x="667512" y="1801368"/>
            <a:ext cx="2971800" cy="585216"/>
          </a:xfrm>
          <a:prstGeom prst="rect">
            <a:avLst/>
          </a:prstGeom>
          <a:noFill/>
        </p:spPr>
        <p:txBody>
          <a:bodyPr wrap="square" lIns="25400" rIns="25400" tIns="25400" bIns="25400">
            <a:spAutoFit/>
          </a:bodyPr>
          <a:lstStyle/>
          <a:p>
            <a:pPr>
              <a:lnSpc>
                <a:spcPct val="108000"/>
              </a:lnSpc>
              <a:spcAft>
                <a:spcPts val="500"/>
              </a:spcAft>
              <a:defRPr sz="2000" b="1">
                <a:solidFill>
                  <a:srgbClr val="007F86"/>
                </a:solidFill>
                <a:latin typeface="Arial"/>
              </a:defRPr>
            </a:pPr>
            <a:r>
              <a:t>Instructor / evaluator</a:t>
            </a:r>
          </a:p>
        </p:txBody>
      </p:sp>
      <p:sp>
        <p:nvSpPr>
          <p:cNvPr id="10" name="TextBox 9"/>
          <p:cNvSpPr txBox="1"/>
          <p:nvPr/>
        </p:nvSpPr>
        <p:spPr>
          <a:xfrm>
            <a:off x="3749039" y="1801368"/>
            <a:ext cx="7699248" cy="640080"/>
          </a:xfrm>
          <a:prstGeom prst="rect">
            <a:avLst/>
          </a:prstGeom>
          <a:noFill/>
        </p:spPr>
        <p:txBody>
          <a:bodyPr wrap="square" lIns="25400" rIns="25400" tIns="25400" bIns="25400">
            <a:spAutoFit/>
          </a:bodyPr>
          <a:lstStyle/>
          <a:p>
            <a:pPr>
              <a:lnSpc>
                <a:spcPct val="108000"/>
              </a:lnSpc>
              <a:spcAft>
                <a:spcPts val="500"/>
              </a:spcAft>
              <a:defRPr sz="1900" b="0">
                <a:solidFill>
                  <a:srgbClr val="17354B"/>
                </a:solidFill>
                <a:latin typeface="Arial"/>
              </a:defRPr>
            </a:pPr>
            <a:r>
              <a:t>Work at the assigned installation; hold the assessment claim; challenge and report.</a:t>
            </a:r>
          </a:p>
        </p:txBody>
      </p:sp>
      <p:sp>
        <p:nvSpPr>
          <p:cNvPr id="11" name="TextBox 10"/>
          <p:cNvSpPr txBox="1"/>
          <p:nvPr/>
        </p:nvSpPr>
        <p:spPr>
          <a:xfrm>
            <a:off x="667512" y="2642616"/>
            <a:ext cx="2971800" cy="585216"/>
          </a:xfrm>
          <a:prstGeom prst="rect">
            <a:avLst/>
          </a:prstGeom>
          <a:noFill/>
        </p:spPr>
        <p:txBody>
          <a:bodyPr wrap="square" lIns="25400" rIns="25400" tIns="25400" bIns="25400">
            <a:spAutoFit/>
          </a:bodyPr>
          <a:lstStyle/>
          <a:p>
            <a:pPr>
              <a:lnSpc>
                <a:spcPct val="108000"/>
              </a:lnSpc>
              <a:spcAft>
                <a:spcPts val="500"/>
              </a:spcAft>
              <a:defRPr sz="2000" b="1">
                <a:solidFill>
                  <a:srgbClr val="007F86"/>
                </a:solidFill>
                <a:latin typeface="Arial"/>
              </a:defRPr>
            </a:pPr>
            <a:r>
              <a:t>Installation PM</a:t>
            </a:r>
          </a:p>
        </p:txBody>
      </p:sp>
      <p:sp>
        <p:nvSpPr>
          <p:cNvPr id="12" name="TextBox 11"/>
          <p:cNvSpPr txBox="1"/>
          <p:nvPr/>
        </p:nvSpPr>
        <p:spPr>
          <a:xfrm>
            <a:off x="3749039" y="2642616"/>
            <a:ext cx="7699248" cy="640080"/>
          </a:xfrm>
          <a:prstGeom prst="rect">
            <a:avLst/>
          </a:prstGeom>
          <a:noFill/>
        </p:spPr>
        <p:txBody>
          <a:bodyPr wrap="square" lIns="25400" rIns="25400" tIns="25400" bIns="25400">
            <a:spAutoFit/>
          </a:bodyPr>
          <a:lstStyle/>
          <a:p>
            <a:pPr>
              <a:lnSpc>
                <a:spcPct val="108000"/>
              </a:lnSpc>
              <a:spcAft>
                <a:spcPts val="500"/>
              </a:spcAft>
              <a:defRPr sz="1900" b="0">
                <a:solidFill>
                  <a:srgbClr val="17354B"/>
                </a:solidFill>
                <a:latin typeface="Arial"/>
              </a:defRPr>
            </a:pPr>
            <a:r>
              <a:t>Prepare fixtures/assignments, pair testers, reconcile counts and collect findings.</a:t>
            </a:r>
          </a:p>
        </p:txBody>
      </p:sp>
      <p:sp>
        <p:nvSpPr>
          <p:cNvPr id="13" name="TextBox 12"/>
          <p:cNvSpPr txBox="1"/>
          <p:nvPr/>
        </p:nvSpPr>
        <p:spPr>
          <a:xfrm>
            <a:off x="667512" y="3483864"/>
            <a:ext cx="2971800" cy="585216"/>
          </a:xfrm>
          <a:prstGeom prst="rect">
            <a:avLst/>
          </a:prstGeom>
          <a:noFill/>
        </p:spPr>
        <p:txBody>
          <a:bodyPr wrap="square" lIns="25400" rIns="25400" tIns="25400" bIns="25400">
            <a:spAutoFit/>
          </a:bodyPr>
          <a:lstStyle/>
          <a:p>
            <a:pPr>
              <a:lnSpc>
                <a:spcPct val="108000"/>
              </a:lnSpc>
              <a:spcAft>
                <a:spcPts val="500"/>
              </a:spcAft>
              <a:defRPr sz="2000" b="1">
                <a:solidFill>
                  <a:srgbClr val="007F86"/>
                </a:solidFill>
                <a:latin typeface="Arial"/>
              </a:defRPr>
            </a:pPr>
            <a:r>
              <a:t>MAJCOM Manager</a:t>
            </a:r>
          </a:p>
        </p:txBody>
      </p:sp>
      <p:sp>
        <p:nvSpPr>
          <p:cNvPr id="14" name="TextBox 13"/>
          <p:cNvSpPr txBox="1"/>
          <p:nvPr/>
        </p:nvSpPr>
        <p:spPr>
          <a:xfrm>
            <a:off x="3749039" y="3483864"/>
            <a:ext cx="7699248" cy="640080"/>
          </a:xfrm>
          <a:prstGeom prst="rect">
            <a:avLst/>
          </a:prstGeom>
          <a:noFill/>
        </p:spPr>
        <p:txBody>
          <a:bodyPr wrap="square" lIns="25400" rIns="25400" tIns="25400" bIns="25400">
            <a:spAutoFit/>
          </a:bodyPr>
          <a:lstStyle/>
          <a:p>
            <a:pPr>
              <a:lnSpc>
                <a:spcPct val="108000"/>
              </a:lnSpc>
              <a:spcAft>
                <a:spcPts val="500"/>
              </a:spcAft>
              <a:defRPr sz="1900" b="0">
                <a:solidFill>
                  <a:srgbClr val="17354B"/>
                </a:solidFill>
                <a:latin typeface="Arial"/>
              </a:defRPr>
            </a:pPr>
            <a:r>
              <a:t>Review reports within ordinary authorized command scope and track site feedback.</a:t>
            </a:r>
          </a:p>
        </p:txBody>
      </p:sp>
      <p:sp>
        <p:nvSpPr>
          <p:cNvPr id="15" name="TextBox 14"/>
          <p:cNvSpPr txBox="1"/>
          <p:nvPr/>
        </p:nvSpPr>
        <p:spPr>
          <a:xfrm>
            <a:off x="667512" y="4325112"/>
            <a:ext cx="2971800" cy="585216"/>
          </a:xfrm>
          <a:prstGeom prst="rect">
            <a:avLst/>
          </a:prstGeom>
          <a:noFill/>
        </p:spPr>
        <p:txBody>
          <a:bodyPr wrap="square" lIns="25400" rIns="25400" tIns="25400" bIns="25400">
            <a:spAutoFit/>
          </a:bodyPr>
          <a:lstStyle/>
          <a:p>
            <a:pPr>
              <a:lnSpc>
                <a:spcPct val="108000"/>
              </a:lnSpc>
              <a:spcAft>
                <a:spcPts val="500"/>
              </a:spcAft>
              <a:defRPr sz="1900" b="1">
                <a:solidFill>
                  <a:srgbClr val="007F86"/>
                </a:solidFill>
                <a:latin typeface="Arial"/>
              </a:defRPr>
            </a:pPr>
            <a:r>
              <a:t>Enterprise / NUC owner</a:t>
            </a:r>
          </a:p>
        </p:txBody>
      </p:sp>
      <p:sp>
        <p:nvSpPr>
          <p:cNvPr id="16" name="TextBox 15"/>
          <p:cNvSpPr txBox="1"/>
          <p:nvPr/>
        </p:nvSpPr>
        <p:spPr>
          <a:xfrm>
            <a:off x="3749039" y="4325112"/>
            <a:ext cx="7699248" cy="640080"/>
          </a:xfrm>
          <a:prstGeom prst="rect">
            <a:avLst/>
          </a:prstGeom>
          <a:noFill/>
        </p:spPr>
        <p:txBody>
          <a:bodyPr wrap="square" lIns="25400" rIns="25400" tIns="25400" bIns="25400">
            <a:spAutoFit/>
          </a:bodyPr>
          <a:lstStyle/>
          <a:p>
            <a:pPr>
              <a:lnSpc>
                <a:spcPct val="108000"/>
              </a:lnSpc>
              <a:spcAft>
                <a:spcPts val="500"/>
              </a:spcAft>
              <a:defRPr sz="1900" b="0">
                <a:solidFill>
                  <a:srgbClr val="17354B"/>
                </a:solidFill>
                <a:latin typeface="Arial"/>
              </a:defRPr>
            </a:pPr>
            <a:r>
              <a:t>Provision/reset accounts; operate retention; preserve backups and recovery evidence.</a:t>
            </a:r>
          </a:p>
        </p:txBody>
      </p:sp>
      <p:sp>
        <p:nvSpPr>
          <p:cNvPr id="17" name="TextBox 16"/>
          <p:cNvSpPr txBox="1"/>
          <p:nvPr/>
        </p:nvSpPr>
        <p:spPr>
          <a:xfrm>
            <a:off x="667512" y="5166360"/>
            <a:ext cx="2971800" cy="585216"/>
          </a:xfrm>
          <a:prstGeom prst="rect">
            <a:avLst/>
          </a:prstGeom>
          <a:noFill/>
        </p:spPr>
        <p:txBody>
          <a:bodyPr wrap="square" lIns="25400" rIns="25400" tIns="25400" bIns="25400">
            <a:spAutoFit/>
          </a:bodyPr>
          <a:lstStyle/>
          <a:p>
            <a:pPr>
              <a:lnSpc>
                <a:spcPct val="108000"/>
              </a:lnSpc>
              <a:spcAft>
                <a:spcPts val="500"/>
              </a:spcAft>
              <a:defRPr sz="2000" b="1">
                <a:solidFill>
                  <a:srgbClr val="007F86"/>
                </a:solidFill>
                <a:latin typeface="Arial"/>
              </a:defRPr>
            </a:pPr>
            <a:r>
              <a:t>SME / pilot owner</a:t>
            </a:r>
          </a:p>
        </p:txBody>
      </p:sp>
      <p:sp>
        <p:nvSpPr>
          <p:cNvPr id="18" name="TextBox 17"/>
          <p:cNvSpPr txBox="1"/>
          <p:nvPr/>
        </p:nvSpPr>
        <p:spPr>
          <a:xfrm>
            <a:off x="3749039" y="5166360"/>
            <a:ext cx="7699248" cy="640080"/>
          </a:xfrm>
          <a:prstGeom prst="rect">
            <a:avLst/>
          </a:prstGeom>
          <a:noFill/>
        </p:spPr>
        <p:txBody>
          <a:bodyPr wrap="square" lIns="25400" rIns="25400" tIns="25400" bIns="25400">
            <a:spAutoFit/>
          </a:bodyPr>
          <a:lstStyle/>
          <a:p>
            <a:pPr>
              <a:lnSpc>
                <a:spcPct val="108000"/>
              </a:lnSpc>
              <a:spcAft>
                <a:spcPts val="500"/>
              </a:spcAft>
              <a:defRPr sz="1900" b="0">
                <a:solidFill>
                  <a:srgbClr val="17354B"/>
                </a:solidFill>
                <a:latin typeface="Arial"/>
              </a:defRPr>
            </a:pPr>
            <a:r>
              <a:t>Set reference cases, review rule disagreements, triage and authorize retesting.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007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11064240" cy="292608"/>
          </a:xfrm>
          <a:prstGeom prst="rect">
            <a:avLst/>
          </a:prstGeom>
          <a:noFill/>
        </p:spPr>
        <p:txBody>
          <a:bodyPr wrap="square" lIns="25400" rIns="25400" tIns="25400" bIns="25400">
            <a:spAutoFit/>
          </a:bodyPr>
          <a:lstStyle/>
          <a:p>
            <a:pPr>
              <a:lnSpc>
                <a:spcPct val="108000"/>
              </a:lnSpc>
              <a:spcAft>
                <a:spcPts val="500"/>
              </a:spcAft>
              <a:defRPr sz="1100" b="1">
                <a:solidFill>
                  <a:srgbClr val="007F86"/>
                </a:solidFill>
                <a:latin typeface="Arial"/>
              </a:defRPr>
            </a:pPr>
            <a:r>
              <a:t>ITEMS TO PROVE BEFORE EXPANSION</a:t>
            </a:r>
          </a:p>
        </p:txBody>
      </p:sp>
      <p:sp>
        <p:nvSpPr>
          <p:cNvPr id="5" name="TextBox 4"/>
          <p:cNvSpPr txBox="1"/>
          <p:nvPr/>
        </p:nvSpPr>
        <p:spPr>
          <a:xfrm>
            <a:off x="502920" y="758952"/>
            <a:ext cx="11064240" cy="960120"/>
          </a:xfrm>
          <a:prstGeom prst="rect">
            <a:avLst/>
          </a:prstGeom>
          <a:noFill/>
        </p:spPr>
        <p:txBody>
          <a:bodyPr wrap="square" lIns="25400" rIns="25400" tIns="25400" bIns="25400">
            <a:spAutoFit/>
          </a:bodyPr>
          <a:lstStyle/>
          <a:p>
            <a:pPr>
              <a:lnSpc>
                <a:spcPct val="108000"/>
              </a:lnSpc>
              <a:spcAft>
                <a:spcPts val="500"/>
              </a:spcAft>
              <a:defRPr sz="3200" b="1">
                <a:solidFill>
                  <a:srgbClr val="102A43"/>
                </a:solidFill>
                <a:latin typeface="Arial"/>
              </a:defRPr>
            </a:pPr>
            <a:r>
              <a:t>Appendix: remaining operational checks</a:t>
            </a:r>
          </a:p>
        </p:txBody>
      </p:sp>
      <p:sp>
        <p:nvSpPr>
          <p:cNvPr id="6" name="Rectangle 5"/>
          <p:cNvSpPr/>
          <p:nvPr/>
        </p:nvSpPr>
        <p:spPr>
          <a:xfrm>
            <a:off x="521207" y="6391656"/>
            <a:ext cx="11119104" cy="11887"/>
          </a:xfrm>
          <a:prstGeom prst="rect">
            <a:avLst/>
          </a:prstGeom>
          <a:solidFill>
            <a:srgbClr val="D9E2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21207" y="6492240"/>
            <a:ext cx="10332720" cy="210312"/>
          </a:xfrm>
          <a:prstGeom prst="rect">
            <a:avLst/>
          </a:prstGeom>
          <a:noFill/>
        </p:spPr>
        <p:txBody>
          <a:bodyPr wrap="square" lIns="25400" rIns="25400" tIns="25400" bIns="25400">
            <a:spAutoFit/>
          </a:bodyPr>
          <a:lstStyle/>
          <a:p>
            <a:pPr>
              <a:lnSpc>
                <a:spcPct val="108000"/>
              </a:lnSpc>
              <a:spcAft>
                <a:spcPts val="500"/>
              </a:spcAft>
              <a:defRPr sz="900" b="0">
                <a:solidFill>
                  <a:srgbClr val="516677"/>
                </a:solidFill>
                <a:latin typeface="Arial"/>
              </a:defRPr>
            </a:pPr>
            <a:r>
              <a:t>RaPS  |  Instructor break-it beta  |  Fictitious beta records  |  web.9</a:t>
            </a:r>
          </a:p>
        </p:txBody>
      </p:sp>
      <p:sp>
        <p:nvSpPr>
          <p:cNvPr id="8" name="TextBox 7"/>
          <p:cNvSpPr txBox="1"/>
          <p:nvPr/>
        </p:nvSpPr>
        <p:spPr>
          <a:xfrm>
            <a:off x="11082528" y="6473952"/>
            <a:ext cx="457200" cy="228600"/>
          </a:xfrm>
          <a:prstGeom prst="rect">
            <a:avLst/>
          </a:prstGeom>
          <a:noFill/>
        </p:spPr>
        <p:txBody>
          <a:bodyPr wrap="square" lIns="25400" rIns="25400" tIns="25400" bIns="25400">
            <a:spAutoFit/>
          </a:bodyPr>
          <a:lstStyle/>
          <a:p>
            <a:pPr>
              <a:lnSpc>
                <a:spcPct val="108000"/>
              </a:lnSpc>
              <a:spcAft>
                <a:spcPts val="500"/>
              </a:spcAft>
              <a:defRPr sz="1000" b="0">
                <a:solidFill>
                  <a:srgbClr val="516677"/>
                </a:solidFill>
                <a:latin typeface="Arial"/>
              </a:defRPr>
            </a:pPr>
            <a:r>
              <a:t>14</a:t>
            </a:r>
          </a:p>
        </p:txBody>
      </p:sp>
      <p:sp>
        <p:nvSpPr>
          <p:cNvPr id="9" name="TextBox 8"/>
          <p:cNvSpPr txBox="1"/>
          <p:nvPr/>
        </p:nvSpPr>
        <p:spPr>
          <a:xfrm>
            <a:off x="667512" y="1801368"/>
            <a:ext cx="3657600" cy="566928"/>
          </a:xfrm>
          <a:prstGeom prst="rect">
            <a:avLst/>
          </a:prstGeom>
          <a:noFill/>
        </p:spPr>
        <p:txBody>
          <a:bodyPr wrap="square" lIns="25400" rIns="25400" tIns="25400" bIns="25400">
            <a:spAutoFit/>
          </a:bodyPr>
          <a:lstStyle/>
          <a:p>
            <a:pPr>
              <a:lnSpc>
                <a:spcPct val="108000"/>
              </a:lnSpc>
              <a:spcAft>
                <a:spcPts val="500"/>
              </a:spcAft>
              <a:defRPr sz="1900" b="1">
                <a:solidFill>
                  <a:srgbClr val="102A43"/>
                </a:solidFill>
                <a:latin typeface="Arial"/>
              </a:defRPr>
            </a:pPr>
            <a:r>
              <a:t>Real device release + identity</a:t>
            </a:r>
          </a:p>
        </p:txBody>
      </p:sp>
      <p:sp>
        <p:nvSpPr>
          <p:cNvPr id="10" name="TextBox 9"/>
          <p:cNvSpPr txBox="1"/>
          <p:nvPr/>
        </p:nvSpPr>
        <p:spPr>
          <a:xfrm>
            <a:off x="4443984" y="1801368"/>
            <a:ext cx="7013448" cy="640080"/>
          </a:xfrm>
          <a:prstGeom prst="rect">
            <a:avLst/>
          </a:prstGeom>
          <a:noFill/>
        </p:spPr>
        <p:txBody>
          <a:bodyPr wrap="square" lIns="25400" rIns="25400" tIns="25400" bIns="25400">
            <a:spAutoFit/>
          </a:bodyPr>
          <a:lstStyle/>
          <a:p>
            <a:pPr>
              <a:lnSpc>
                <a:spcPct val="108000"/>
              </a:lnSpc>
              <a:spcAft>
                <a:spcPts val="500"/>
              </a:spcAft>
              <a:defRPr sz="1800" b="0">
                <a:solidFill>
                  <a:srgbClr val="516677"/>
                </a:solidFill>
                <a:latin typeface="Arial"/>
              </a:defRPr>
            </a:pPr>
            <a:r>
              <a:t>Browser/PWA version, first login, reset and scope on actual devices.</a:t>
            </a:r>
          </a:p>
        </p:txBody>
      </p:sp>
      <p:sp>
        <p:nvSpPr>
          <p:cNvPr id="11" name="TextBox 10"/>
          <p:cNvSpPr txBox="1"/>
          <p:nvPr/>
        </p:nvSpPr>
        <p:spPr>
          <a:xfrm>
            <a:off x="667512" y="2624328"/>
            <a:ext cx="3657600" cy="566928"/>
          </a:xfrm>
          <a:prstGeom prst="rect">
            <a:avLst/>
          </a:prstGeom>
          <a:noFill/>
        </p:spPr>
        <p:txBody>
          <a:bodyPr wrap="square" lIns="25400" rIns="25400" tIns="25400" bIns="25400">
            <a:spAutoFit/>
          </a:bodyPr>
          <a:lstStyle/>
          <a:p>
            <a:pPr>
              <a:lnSpc>
                <a:spcPct val="108000"/>
              </a:lnSpc>
              <a:spcAft>
                <a:spcPts val="500"/>
              </a:spcAft>
              <a:defRPr sz="2000" b="1">
                <a:solidFill>
                  <a:srgbClr val="102A43"/>
                </a:solidFill>
                <a:latin typeface="Arial"/>
              </a:defRPr>
            </a:pPr>
            <a:r>
              <a:t>Outages + ownership</a:t>
            </a:r>
          </a:p>
        </p:txBody>
      </p:sp>
      <p:sp>
        <p:nvSpPr>
          <p:cNvPr id="12" name="TextBox 11"/>
          <p:cNvSpPr txBox="1"/>
          <p:nvPr/>
        </p:nvSpPr>
        <p:spPr>
          <a:xfrm>
            <a:off x="4443984" y="2624328"/>
            <a:ext cx="7013448" cy="640080"/>
          </a:xfrm>
          <a:prstGeom prst="rect">
            <a:avLst/>
          </a:prstGeom>
          <a:noFill/>
        </p:spPr>
        <p:txBody>
          <a:bodyPr wrap="square" lIns="25400" rIns="25400" tIns="25400" bIns="25400">
            <a:spAutoFit/>
          </a:bodyPr>
          <a:lstStyle/>
          <a:p>
            <a:pPr>
              <a:lnSpc>
                <a:spcPct val="108000"/>
              </a:lnSpc>
              <a:spcAft>
                <a:spcPts val="500"/>
              </a:spcAft>
              <a:defRPr sz="1800" b="0">
                <a:solidFill>
                  <a:srgbClr val="516677"/>
                </a:solidFill>
                <a:latin typeface="Arial"/>
              </a:defRPr>
            </a:pPr>
            <a:r>
              <a:t>Local persistence, claim exclusion, reconnect and exact stored results.</a:t>
            </a:r>
          </a:p>
        </p:txBody>
      </p:sp>
      <p:sp>
        <p:nvSpPr>
          <p:cNvPr id="13" name="TextBox 12"/>
          <p:cNvSpPr txBox="1"/>
          <p:nvPr/>
        </p:nvSpPr>
        <p:spPr>
          <a:xfrm>
            <a:off x="667512" y="3447288"/>
            <a:ext cx="3657600" cy="566928"/>
          </a:xfrm>
          <a:prstGeom prst="rect">
            <a:avLst/>
          </a:prstGeom>
          <a:noFill/>
        </p:spPr>
        <p:txBody>
          <a:bodyPr wrap="square" lIns="25400" rIns="25400" tIns="25400" bIns="25400">
            <a:spAutoFit/>
          </a:bodyPr>
          <a:lstStyle/>
          <a:p>
            <a:pPr>
              <a:lnSpc>
                <a:spcPct val="108000"/>
              </a:lnSpc>
              <a:spcAft>
                <a:spcPts val="500"/>
              </a:spcAft>
              <a:defRPr sz="2000" b="1">
                <a:solidFill>
                  <a:srgbClr val="102A43"/>
                </a:solidFill>
                <a:latin typeface="Arial"/>
              </a:defRPr>
            </a:pPr>
            <a:r>
              <a:t>Physical usability + timing</a:t>
            </a:r>
          </a:p>
        </p:txBody>
      </p:sp>
      <p:sp>
        <p:nvSpPr>
          <p:cNvPr id="14" name="TextBox 13"/>
          <p:cNvSpPr txBox="1"/>
          <p:nvPr/>
        </p:nvSpPr>
        <p:spPr>
          <a:xfrm>
            <a:off x="4443984" y="3447288"/>
            <a:ext cx="7013448" cy="640080"/>
          </a:xfrm>
          <a:prstGeom prst="rect">
            <a:avLst/>
          </a:prstGeom>
          <a:noFill/>
        </p:spPr>
        <p:txBody>
          <a:bodyPr wrap="square" lIns="25400" rIns="25400" tIns="25400" bIns="25400">
            <a:spAutoFit/>
          </a:bodyPr>
          <a:lstStyle/>
          <a:p>
            <a:pPr>
              <a:lnSpc>
                <a:spcPct val="108000"/>
              </a:lnSpc>
              <a:spcAft>
                <a:spcPts val="500"/>
              </a:spcAft>
              <a:defRPr sz="1800" b="0">
                <a:solidFill>
                  <a:srgbClr val="516677"/>
                </a:solidFill>
                <a:latin typeface="Arial"/>
              </a:defRPr>
            </a:pPr>
            <a:r>
              <a:t>Gloves, light, keyboard, interruption recovery and reference-clock comparison.</a:t>
            </a:r>
          </a:p>
        </p:txBody>
      </p:sp>
      <p:sp>
        <p:nvSpPr>
          <p:cNvPr id="15" name="TextBox 14"/>
          <p:cNvSpPr txBox="1"/>
          <p:nvPr/>
        </p:nvSpPr>
        <p:spPr>
          <a:xfrm>
            <a:off x="667512" y="4270248"/>
            <a:ext cx="3657600" cy="566928"/>
          </a:xfrm>
          <a:prstGeom prst="rect">
            <a:avLst/>
          </a:prstGeom>
          <a:noFill/>
        </p:spPr>
        <p:txBody>
          <a:bodyPr wrap="square" lIns="25400" rIns="25400" tIns="25400" bIns="25400">
            <a:spAutoFit/>
          </a:bodyPr>
          <a:lstStyle/>
          <a:p>
            <a:pPr>
              <a:lnSpc>
                <a:spcPct val="108000"/>
              </a:lnSpc>
              <a:spcAft>
                <a:spcPts val="500"/>
              </a:spcAft>
              <a:defRPr sz="2000" b="1">
                <a:solidFill>
                  <a:srgbClr val="102A43"/>
                </a:solidFill>
                <a:latin typeface="Arial"/>
              </a:defRPr>
            </a:pPr>
            <a:r>
              <a:t>Both retention workflows</a:t>
            </a:r>
          </a:p>
        </p:txBody>
      </p:sp>
      <p:sp>
        <p:nvSpPr>
          <p:cNvPr id="16" name="TextBox 15"/>
          <p:cNvSpPr txBox="1"/>
          <p:nvPr/>
        </p:nvSpPr>
        <p:spPr>
          <a:xfrm>
            <a:off x="4443984" y="4270248"/>
            <a:ext cx="7013448" cy="640080"/>
          </a:xfrm>
          <a:prstGeom prst="rect">
            <a:avLst/>
          </a:prstGeom>
          <a:noFill/>
        </p:spPr>
        <p:txBody>
          <a:bodyPr wrap="square" lIns="25400" rIns="25400" tIns="25400" bIns="25400">
            <a:spAutoFit/>
          </a:bodyPr>
          <a:lstStyle/>
          <a:p>
            <a:pPr>
              <a:lnSpc>
                <a:spcPct val="108000"/>
              </a:lnSpc>
              <a:spcAft>
                <a:spcPts val="500"/>
              </a:spcAft>
              <a:defRPr sz="1800" b="0">
                <a:solidFill>
                  <a:srgbClr val="516677"/>
                </a:solidFill>
                <a:latin typeface="Arial"/>
              </a:defRPr>
            </a:pPr>
            <a:r>
              <a:t>Existing automatic closed-class worker; selected-class reporting archive worker.</a:t>
            </a:r>
          </a:p>
        </p:txBody>
      </p:sp>
      <p:sp>
        <p:nvSpPr>
          <p:cNvPr id="17" name="TextBox 16"/>
          <p:cNvSpPr txBox="1"/>
          <p:nvPr/>
        </p:nvSpPr>
        <p:spPr>
          <a:xfrm>
            <a:off x="667512" y="5093208"/>
            <a:ext cx="3657600" cy="566928"/>
          </a:xfrm>
          <a:prstGeom prst="rect">
            <a:avLst/>
          </a:prstGeom>
          <a:noFill/>
        </p:spPr>
        <p:txBody>
          <a:bodyPr wrap="square" lIns="25400" rIns="25400" tIns="25400" bIns="25400">
            <a:spAutoFit/>
          </a:bodyPr>
          <a:lstStyle/>
          <a:p>
            <a:pPr>
              <a:lnSpc>
                <a:spcPct val="108000"/>
              </a:lnSpc>
              <a:spcAft>
                <a:spcPts val="500"/>
              </a:spcAft>
              <a:defRPr sz="2000" b="1">
                <a:solidFill>
                  <a:srgbClr val="102A43"/>
                </a:solidFill>
                <a:latin typeface="Arial"/>
              </a:defRPr>
            </a:pPr>
            <a:r>
              <a:t>Recoverability + support</a:t>
            </a:r>
          </a:p>
        </p:txBody>
      </p:sp>
      <p:sp>
        <p:nvSpPr>
          <p:cNvPr id="18" name="TextBox 17"/>
          <p:cNvSpPr txBox="1"/>
          <p:nvPr/>
        </p:nvSpPr>
        <p:spPr>
          <a:xfrm>
            <a:off x="4443984" y="5093208"/>
            <a:ext cx="7013448" cy="640080"/>
          </a:xfrm>
          <a:prstGeom prst="rect">
            <a:avLst/>
          </a:prstGeom>
          <a:noFill/>
        </p:spPr>
        <p:txBody>
          <a:bodyPr wrap="square" lIns="25400" rIns="25400" tIns="25400" bIns="25400">
            <a:spAutoFit/>
          </a:bodyPr>
          <a:lstStyle/>
          <a:p>
            <a:pPr>
              <a:lnSpc>
                <a:spcPct val="108000"/>
              </a:lnSpc>
              <a:spcAft>
                <a:spcPts val="500"/>
              </a:spcAft>
              <a:defRPr sz="1800" b="0">
                <a:solidFill>
                  <a:srgbClr val="516677"/>
                </a:solidFill>
                <a:latin typeface="Arial"/>
              </a:defRPr>
            </a:pPr>
            <a:r>
              <a:t>Off-NUC backup, isolated restore, owner escalation and field support process.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RaPS Instructor Break-It Beta — Leadership Brief</dc:title>
  <dc:subject>Controlled TEST pilot, instructor challenges, feedback and readiness decisions</dc:subject>
  <dc:creator>RaPS pilot planning</dc:creator>
  <cp:keywords>RaPS, TEST, beta, instructors, MAJCOM, field evaluation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